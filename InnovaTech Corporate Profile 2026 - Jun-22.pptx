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  <Override PartName="/ppt/media/image11.jpeg" ContentType="image/jpeg"/>
  <Override PartName="/ppt/media/image12.jpeg" ContentType="image/jpeg"/>
  <Override PartName="/ppt/media/image1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228600" indent="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228600" indent="4572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228600" indent="9144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228600" indent="13716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228600" indent="18288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8" name="Body Level One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indent="-342900"/>
            <a:lvl2pPr indent="-342900"/>
            <a:lvl3pPr indent="-342900"/>
            <a:lvl4pPr indent="-342900"/>
            <a:lvl5pPr indent="-34290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7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228600" indent="4572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228600" indent="9144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228600" indent="13716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228600" indent="18288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6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 indent="-406400">
              <a:spcBef>
                <a:spcPts val="600"/>
              </a:spcBef>
              <a:buSzPts val="2800"/>
              <a:defRPr sz="2800"/>
            </a:lvl1pPr>
            <a:lvl2pPr indent="-406400">
              <a:spcBef>
                <a:spcPts val="600"/>
              </a:spcBef>
              <a:buSzPts val="2800"/>
              <a:defRPr sz="2800"/>
            </a:lvl2pPr>
            <a:lvl3pPr indent="-406400">
              <a:spcBef>
                <a:spcPts val="600"/>
              </a:spcBef>
              <a:buSzPts val="2800"/>
              <a:defRPr sz="2800"/>
            </a:lvl3pPr>
            <a:lvl4pPr indent="-406400">
              <a:spcBef>
                <a:spcPts val="600"/>
              </a:spcBef>
              <a:buSzPts val="2800"/>
              <a:defRPr sz="2800"/>
            </a:lvl4pPr>
            <a:lvl5pPr indent="-406400">
              <a:spcBef>
                <a:spcPts val="600"/>
              </a:spcBef>
              <a:buSzPts val="2800"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5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500"/>
              </a:spcBef>
              <a:buClrTx/>
              <a:buSzTx/>
              <a:buFontTx/>
              <a:buNone/>
              <a:defRPr b="1" sz="2400"/>
            </a:lvl1pPr>
            <a:lvl2pPr marL="228600" indent="457200">
              <a:spcBef>
                <a:spcPts val="500"/>
              </a:spcBef>
              <a:buClrTx/>
              <a:buSzTx/>
              <a:buFontTx/>
              <a:buNone/>
              <a:defRPr b="1" sz="2400"/>
            </a:lvl2pPr>
            <a:lvl3pPr marL="228600" indent="914400">
              <a:spcBef>
                <a:spcPts val="500"/>
              </a:spcBef>
              <a:buClrTx/>
              <a:buSzTx/>
              <a:buFontTx/>
              <a:buNone/>
              <a:defRPr b="1" sz="2400"/>
            </a:lvl3pPr>
            <a:lvl4pPr marL="228600" indent="1371600">
              <a:spcBef>
                <a:spcPts val="500"/>
              </a:spcBef>
              <a:buClrTx/>
              <a:buSzTx/>
              <a:buFontTx/>
              <a:buNone/>
              <a:defRPr b="1" sz="2400"/>
            </a:lvl4pPr>
            <a:lvl5pPr marL="228600" indent="1828800">
              <a:spcBef>
                <a:spcPts val="500"/>
              </a:spcBef>
              <a:buClrTx/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Google Shape;30;p46"/>
          <p:cNvSpPr txBox="1"/>
          <p:nvPr>
            <p:ph type="body" sz="quarter" idx="21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anchor="b"/>
          <a:lstStyle/>
          <a:p>
            <a:pPr indent="-342900"/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 indent="-342900"/>
            <a:lvl2pPr indent="-342900"/>
            <a:lvl3pPr indent="-342900"/>
            <a:lvl4pPr indent="-342900"/>
            <a:lvl5pPr indent="-34290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Google Shape;38;p48"/>
          <p:cNvSpPr txBox="1"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Google Shape;42;p49"/>
          <p:cNvSpPr/>
          <p:nvPr>
            <p:ph type="pic" sz="quarter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228600" indent="0">
              <a:spcBef>
                <a:spcPts val="300"/>
              </a:spcBef>
              <a:buClrTx/>
              <a:buSzTx/>
              <a:buFontTx/>
              <a:buNone/>
              <a:defRPr sz="1400"/>
            </a:lvl1pPr>
            <a:lvl2pPr marL="228600" indent="457200">
              <a:spcBef>
                <a:spcPts val="300"/>
              </a:spcBef>
              <a:buClrTx/>
              <a:buSzTx/>
              <a:buFontTx/>
              <a:buNone/>
              <a:defRPr sz="1400"/>
            </a:lvl2pPr>
            <a:lvl3pPr marL="228600" indent="914400">
              <a:spcBef>
                <a:spcPts val="300"/>
              </a:spcBef>
              <a:buClrTx/>
              <a:buSzTx/>
              <a:buFontTx/>
              <a:buNone/>
              <a:defRPr sz="1400"/>
            </a:lvl3pPr>
            <a:lvl4pPr marL="228600" indent="1371600">
              <a:spcBef>
                <a:spcPts val="300"/>
              </a:spcBef>
              <a:buClrTx/>
              <a:buSzTx/>
              <a:buFontTx/>
              <a:buNone/>
              <a:defRPr sz="1400"/>
            </a:lvl4pPr>
            <a:lvl5pPr marL="228600" indent="1828800">
              <a:spcBef>
                <a:spcPts val="300"/>
              </a:spcBef>
              <a:buClrTx/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216" y="6404312"/>
            <a:ext cx="258585" cy="269201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431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14400" marR="0" indent="-431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371600" marR="0" indent="-431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828800" marR="0" indent="-431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286000" marR="0" indent="-431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743200" marR="0" indent="-431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200400" marR="0" indent="-431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657600" marR="0" indent="-431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114800" marR="0" indent="-431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jpeg"/><Relationship Id="rId6" Type="http://schemas.openxmlformats.org/officeDocument/2006/relationships/image" Target="../media/image6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jpeg"/><Relationship Id="rId11" Type="http://schemas.openxmlformats.org/officeDocument/2006/relationships/image" Target="../media/image10.jpeg"/><Relationship Id="rId12" Type="http://schemas.openxmlformats.org/officeDocument/2006/relationships/image" Target="../media/image11.jpeg"/><Relationship Id="rId13" Type="http://schemas.openxmlformats.org/officeDocument/2006/relationships/image" Target="../media/image12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3.jpe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3.jpe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49;p1"/>
          <p:cNvSpPr/>
          <p:nvPr/>
        </p:nvSpPr>
        <p:spPr>
          <a:xfrm>
            <a:off x="535362" y="235559"/>
            <a:ext cx="18288002" cy="10287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" name="Google Shape;50;p1"/>
          <p:cNvSpPr txBox="1"/>
          <p:nvPr/>
        </p:nvSpPr>
        <p:spPr>
          <a:xfrm>
            <a:off x="2553370" y="7753749"/>
            <a:ext cx="13181261" cy="3824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rtl="1">
              <a:lnSpc>
                <a:spcPct val="177777"/>
              </a:lnSpc>
              <a:defRPr b="1" sz="2700">
                <a:solidFill>
                  <a:srgbClr val="8ECA85"/>
                </a:solidFill>
              </a:defRPr>
            </a:lvl1pPr>
          </a:lstStyle>
          <a:p>
            <a:pPr/>
            <a:r>
              <a:t>نُمكّن المؤسسات من إدارة عملياتها بذكاءٍ تشغيليّ، ووصولٍ سحابيّ آمن، وتقارير تنبؤية دقيقة</a:t>
            </a:r>
          </a:p>
        </p:txBody>
      </p:sp>
      <p:sp>
        <p:nvSpPr>
          <p:cNvPr id="96" name="Google Shape;51;p1"/>
          <p:cNvSpPr/>
          <p:nvPr/>
        </p:nvSpPr>
        <p:spPr>
          <a:xfrm>
            <a:off x="6648515" y="2080131"/>
            <a:ext cx="4990969" cy="513698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56;p2"/>
          <p:cNvSpPr/>
          <p:nvPr/>
        </p:nvSpPr>
        <p:spPr>
          <a:xfrm>
            <a:off x="-1976848" y="-1726277"/>
            <a:ext cx="6258096" cy="3817438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9" name="Google Shape;57;p2"/>
          <p:cNvSpPr txBox="1"/>
          <p:nvPr/>
        </p:nvSpPr>
        <p:spPr>
          <a:xfrm>
            <a:off x="9204738" y="3461015"/>
            <a:ext cx="8054562" cy="4209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 rtl="1">
              <a:lnSpc>
                <a:spcPct val="156521"/>
              </a:lnSpc>
              <a:defRPr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شركتك دلوقتي بتكسب ولا بتخسر؟</a:t>
            </a:r>
          </a:p>
          <a:p>
            <a:pPr algn="r" rtl="1">
              <a:lnSpc>
                <a:spcPct val="156521"/>
              </a:lnSpc>
              <a:defRPr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ولو بتكسب… مش عايز تكسب أكتر؟</a:t>
            </a:r>
          </a:p>
          <a:p>
            <a:pPr algn="r" rtl="1">
              <a:lnSpc>
                <a:spcPct val="156521"/>
              </a:lnSpc>
              <a:defRPr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لو عشان تجاوب لازم تستنّى حد يجمّع الأرقام ويطلّع تقرير — يبقى المشكلة مش في الرقم، المشكلة إنه مش قدامك دلوقتي.</a:t>
            </a:r>
          </a:p>
          <a:p>
            <a:pPr algn="r" rtl="1">
              <a:lnSpc>
                <a:spcPct val="156521"/>
              </a:lnSpc>
              <a:defRPr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بِعت بكام الشهر ده؟ مين المتأخر عليك؟ أنهي مشروع بياكل أرباحك من غير ما تحس؟ الإجابة المفروض تكون قدامك… دلوقتي.</a:t>
            </a:r>
          </a:p>
        </p:txBody>
      </p:sp>
      <p:sp>
        <p:nvSpPr>
          <p:cNvPr id="100" name="Google Shape;58;p2"/>
          <p:cNvSpPr/>
          <p:nvPr/>
        </p:nvSpPr>
        <p:spPr>
          <a:xfrm>
            <a:off x="-1860852" y="7735768"/>
            <a:ext cx="5102467" cy="5102467"/>
          </a:xfrm>
          <a:prstGeom prst="ellipse">
            <a:avLst/>
          </a:prstGeom>
          <a:solidFill>
            <a:srgbClr val="8ECA8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1" name="Google Shape;59;p2"/>
          <p:cNvSpPr/>
          <p:nvPr/>
        </p:nvSpPr>
        <p:spPr>
          <a:xfrm>
            <a:off x="690379" y="2091158"/>
            <a:ext cx="7015918" cy="716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5" y="0"/>
                </a:moveTo>
                <a:lnTo>
                  <a:pt x="21295" y="0"/>
                </a:lnTo>
                <a:cubicBezTo>
                  <a:pt x="21376" y="0"/>
                  <a:pt x="21453" y="31"/>
                  <a:pt x="21511" y="88"/>
                </a:cubicBezTo>
                <a:cubicBezTo>
                  <a:pt x="21568" y="144"/>
                  <a:pt x="21600" y="220"/>
                  <a:pt x="21600" y="299"/>
                </a:cubicBezTo>
                <a:lnTo>
                  <a:pt x="21600" y="21301"/>
                </a:lnTo>
                <a:cubicBezTo>
                  <a:pt x="21600" y="21380"/>
                  <a:pt x="21568" y="21456"/>
                  <a:pt x="21511" y="21512"/>
                </a:cubicBezTo>
                <a:cubicBezTo>
                  <a:pt x="21453" y="21569"/>
                  <a:pt x="21376" y="21600"/>
                  <a:pt x="21295" y="21600"/>
                </a:cubicBezTo>
                <a:lnTo>
                  <a:pt x="305" y="21600"/>
                </a:lnTo>
                <a:cubicBezTo>
                  <a:pt x="224" y="21600"/>
                  <a:pt x="147" y="21569"/>
                  <a:pt x="89" y="21512"/>
                </a:cubicBezTo>
                <a:cubicBezTo>
                  <a:pt x="32" y="21456"/>
                  <a:pt x="0" y="21380"/>
                  <a:pt x="0" y="21301"/>
                </a:cubicBezTo>
                <a:lnTo>
                  <a:pt x="0" y="299"/>
                </a:lnTo>
                <a:cubicBezTo>
                  <a:pt x="0" y="220"/>
                  <a:pt x="32" y="144"/>
                  <a:pt x="89" y="88"/>
                </a:cubicBezTo>
                <a:cubicBezTo>
                  <a:pt x="147" y="31"/>
                  <a:pt x="224" y="0"/>
                  <a:pt x="305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" name="Google Shape;60;p2"/>
          <p:cNvSpPr/>
          <p:nvPr/>
        </p:nvSpPr>
        <p:spPr>
          <a:xfrm>
            <a:off x="-1" y="9584448"/>
            <a:ext cx="2304402" cy="90735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" name="Google Shape;61;p2"/>
          <p:cNvSpPr txBox="1"/>
          <p:nvPr/>
        </p:nvSpPr>
        <p:spPr>
          <a:xfrm>
            <a:off x="8991941" y="818953"/>
            <a:ext cx="8267359" cy="1098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defRPr b="1" sz="7700">
                <a:solidFill>
                  <a:srgbClr val="8ECA85"/>
                </a:solidFill>
              </a:defRPr>
            </a:lvl1pPr>
          </a:lstStyle>
          <a:p>
            <a:pPr/>
            <a:r>
              <a:t>سؤال واحد بس...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66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6" name="Google Shape;67;p3"/>
          <p:cNvSpPr/>
          <p:nvPr/>
        </p:nvSpPr>
        <p:spPr>
          <a:xfrm>
            <a:off x="-445140" y="-815729"/>
            <a:ext cx="6258095" cy="381744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" name="Google Shape;68;p3"/>
          <p:cNvSpPr/>
          <p:nvPr/>
        </p:nvSpPr>
        <p:spPr>
          <a:xfrm>
            <a:off x="-1097540" y="7008279"/>
            <a:ext cx="5102467" cy="5102468"/>
          </a:xfrm>
          <a:prstGeom prst="ellipse">
            <a:avLst/>
          </a:prstGeom>
          <a:solidFill>
            <a:srgbClr val="8ECA8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" name="Google Shape;69;p3"/>
          <p:cNvSpPr/>
          <p:nvPr/>
        </p:nvSpPr>
        <p:spPr>
          <a:xfrm>
            <a:off x="16107100" y="9559511"/>
            <a:ext cx="2304402" cy="90735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" name="Google Shape;70;p3"/>
          <p:cNvSpPr txBox="1"/>
          <p:nvPr/>
        </p:nvSpPr>
        <p:spPr>
          <a:xfrm>
            <a:off x="9823280" y="2412156"/>
            <a:ext cx="7436022" cy="358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lnSpc>
                <a:spcPct val="177272"/>
              </a:lnSpc>
              <a:defRPr b="1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المشكلة مش في شركتك — في طريقة ما بتشوفها</a:t>
            </a:r>
          </a:p>
        </p:txBody>
      </p:sp>
      <p:sp>
        <p:nvSpPr>
          <p:cNvPr id="110" name="Google Shape;71;p3"/>
          <p:cNvSpPr txBox="1"/>
          <p:nvPr/>
        </p:nvSpPr>
        <p:spPr>
          <a:xfrm>
            <a:off x="9376995" y="1421483"/>
            <a:ext cx="7882305" cy="863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defRPr b="1" sz="6100">
                <a:solidFill>
                  <a:srgbClr val="FFFFFF"/>
                </a:solidFill>
              </a:defRPr>
            </a:lvl1pPr>
          </a:lstStyle>
          <a:p>
            <a:pPr/>
            <a:r>
              <a:t>المشكلة</a:t>
            </a:r>
          </a:p>
        </p:txBody>
      </p:sp>
      <p:sp>
        <p:nvSpPr>
          <p:cNvPr id="111" name="Google Shape;72;p3"/>
          <p:cNvSpPr txBox="1"/>
          <p:nvPr/>
        </p:nvSpPr>
        <p:spPr>
          <a:xfrm>
            <a:off x="6527648" y="3450240"/>
            <a:ext cx="10731652" cy="3319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66991" indent="-233495" algn="r" rtl="1">
              <a:lnSpc>
                <a:spcPct val="252380"/>
              </a:lnSpc>
              <a:buClr>
                <a:srgbClr val="FFFFFF"/>
              </a:buClr>
              <a:buSzPts val="2100"/>
              <a:buFont typeface="Arial"/>
              <a:buChar char="•"/>
              <a:defRPr sz="2100">
                <a:solidFill>
                  <a:srgbClr val="FFFFFF"/>
                </a:solidFill>
              </a:defRPr>
            </a:pPr>
            <a:r>
              <a:t>بياناتك متفرّقة بين إكسيل وواتساب وورق ودماغ الموظفين — كل حتة لوحدها، ومفيش صورة كاملة.</a:t>
            </a:r>
          </a:p>
          <a:p>
            <a:pPr lvl="1" marL="466991" indent="-233495" algn="r" rtl="1">
              <a:lnSpc>
                <a:spcPct val="252380"/>
              </a:lnSpc>
              <a:buClr>
                <a:srgbClr val="FFFFFF"/>
              </a:buClr>
              <a:buSzPts val="2100"/>
              <a:buFont typeface="Arial"/>
              <a:buChar char="•"/>
              <a:defRPr sz="2100">
                <a:solidFill>
                  <a:srgbClr val="FFFFFF"/>
                </a:solidFill>
              </a:defRPr>
            </a:pPr>
            <a:r>
              <a:t>بتاخد قراراتك على معلومة ناقصة، أو وصلتلك بعد ما فات الأوان.</a:t>
            </a:r>
          </a:p>
          <a:p>
            <a:pPr lvl="1" marL="466991" indent="-233495" algn="r" rtl="1">
              <a:lnSpc>
                <a:spcPct val="252380"/>
              </a:lnSpc>
              <a:buClr>
                <a:srgbClr val="FFFFFF"/>
              </a:buClr>
              <a:buSzPts val="2100"/>
              <a:buFont typeface="Arial"/>
              <a:buChar char="•"/>
              <a:defRPr sz="2100">
                <a:solidFill>
                  <a:srgbClr val="FFFFFF"/>
                </a:solidFill>
              </a:defRPr>
            </a:pPr>
            <a:r>
              <a:t>ولمّا يحصل خطأ، محدش يعرف بدأ منين، ولا كلّف كام، ولا مين المسؤول.</a:t>
            </a:r>
          </a:p>
          <a:p>
            <a:pPr lvl="1" marL="466991" indent="-233495" algn="r" rtl="1">
              <a:lnSpc>
                <a:spcPct val="252380"/>
              </a:lnSpc>
              <a:buClr>
                <a:srgbClr val="FFFFFF"/>
              </a:buClr>
              <a:buSzPts val="2100"/>
              <a:buFont typeface="Arial"/>
              <a:buChar char="•"/>
              <a:defRPr sz="2100">
                <a:solidFill>
                  <a:srgbClr val="FFFFFF"/>
                </a:solidFill>
              </a:defRPr>
            </a:pPr>
            <a:r>
              <a:t>ده مش تقصير من حد — ده غياب أداة بتجمّع كل ده قدامك في مكان واحد، لحظة بلحظة.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77;p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4" name="Google Shape;78;p4"/>
          <p:cNvSpPr/>
          <p:nvPr/>
        </p:nvSpPr>
        <p:spPr>
          <a:xfrm>
            <a:off x="-445140" y="-815729"/>
            <a:ext cx="6258095" cy="381744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5" name="Google Shape;79;p4"/>
          <p:cNvSpPr/>
          <p:nvPr/>
        </p:nvSpPr>
        <p:spPr>
          <a:xfrm>
            <a:off x="-1097540" y="7008279"/>
            <a:ext cx="5102467" cy="5102468"/>
          </a:xfrm>
          <a:prstGeom prst="ellipse">
            <a:avLst/>
          </a:prstGeom>
          <a:solidFill>
            <a:srgbClr val="8ECA8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6" name="Google Shape;80;p4"/>
          <p:cNvSpPr/>
          <p:nvPr/>
        </p:nvSpPr>
        <p:spPr>
          <a:xfrm>
            <a:off x="16107100" y="9559511"/>
            <a:ext cx="2304402" cy="90735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7" name="Google Shape;81;p4"/>
          <p:cNvSpPr txBox="1"/>
          <p:nvPr/>
        </p:nvSpPr>
        <p:spPr>
          <a:xfrm>
            <a:off x="9823280" y="2412156"/>
            <a:ext cx="7436022" cy="358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lnSpc>
                <a:spcPct val="177272"/>
              </a:lnSpc>
              <a:defRPr b="1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تخيّل إنك تبدأ يومك على الشاشة دي</a:t>
            </a:r>
          </a:p>
        </p:txBody>
      </p:sp>
      <p:sp>
        <p:nvSpPr>
          <p:cNvPr id="118" name="Google Shape;82;p4"/>
          <p:cNvSpPr txBox="1"/>
          <p:nvPr/>
        </p:nvSpPr>
        <p:spPr>
          <a:xfrm>
            <a:off x="9376995" y="1421483"/>
            <a:ext cx="7882305" cy="863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defRPr b="1" sz="6100">
                <a:solidFill>
                  <a:srgbClr val="FFFFFF"/>
                </a:solidFill>
              </a:defRPr>
            </a:lvl1pPr>
          </a:lstStyle>
          <a:p>
            <a:pPr/>
            <a:r>
              <a:t>الحل</a:t>
            </a:r>
          </a:p>
        </p:txBody>
      </p:sp>
      <p:sp>
        <p:nvSpPr>
          <p:cNvPr id="119" name="Google Shape;83;p4"/>
          <p:cNvSpPr txBox="1"/>
          <p:nvPr/>
        </p:nvSpPr>
        <p:spPr>
          <a:xfrm>
            <a:off x="6527648" y="3450240"/>
            <a:ext cx="10731652" cy="2563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66991" indent="-233495" algn="r">
              <a:lnSpc>
                <a:spcPct val="252380"/>
              </a:lnSpc>
              <a:buClr>
                <a:srgbClr val="FFFFFF"/>
              </a:buClr>
              <a:buSzPts val="1400"/>
              <a:buFont typeface="Arial"/>
              <a:buChar char="•"/>
            </a:pPr>
            <a:endParaRPr sz="2100">
              <a:solidFill>
                <a:srgbClr val="FFFFFF"/>
              </a:solidFill>
            </a:endParaRPr>
          </a:p>
          <a:p>
            <a:pPr lvl="1" marL="466991" indent="-233495" algn="r" rtl="1">
              <a:lnSpc>
                <a:spcPct val="252380"/>
              </a:lnSpc>
              <a:buClr>
                <a:srgbClr val="FFFFFF"/>
              </a:buClr>
              <a:buSzPts val="2100"/>
              <a:buFont typeface="Arial"/>
              <a:buChar char="•"/>
              <a:defRPr sz="2100">
                <a:solidFill>
                  <a:srgbClr val="FFFFFF"/>
                </a:solidFill>
              </a:defRPr>
            </a:pPr>
            <a:r>
              <a:t>الإيرادات · ما يجب تحصيله · المحصّل · المتأخرات · المصروفات · صافي الربح — في شاشة واحدة.</a:t>
            </a:r>
          </a:p>
          <a:p>
            <a:pPr lvl="1" marL="466991" indent="-233495" algn="r" rtl="1">
              <a:lnSpc>
                <a:spcPct val="252380"/>
              </a:lnSpc>
              <a:buClr>
                <a:srgbClr val="FFFFFF"/>
              </a:buClr>
              <a:buSzPts val="2100"/>
              <a:buFont typeface="Arial"/>
              <a:buChar char="•"/>
              <a:defRPr sz="2100">
                <a:solidFill>
                  <a:srgbClr val="FFFFFF"/>
                </a:solidFill>
              </a:defRPr>
            </a:pPr>
            <a:r>
              <a:t>اختَر أي مشروع أو أي فترة بضغطة، والأرقام تتحدّث قدامك في نفس اللحظة.</a:t>
            </a:r>
          </a:p>
          <a:p>
            <a:pPr lvl="1" marL="466991" indent="-233495" algn="r" rtl="1">
              <a:lnSpc>
                <a:spcPct val="252380"/>
              </a:lnSpc>
              <a:buClr>
                <a:srgbClr val="FFFFFF"/>
              </a:buClr>
              <a:buSzPts val="2100"/>
              <a:buFont typeface="Arial"/>
              <a:buChar char="•"/>
              <a:defRPr sz="2100">
                <a:solidFill>
                  <a:srgbClr val="FFFFFF"/>
                </a:solidFill>
              </a:defRPr>
            </a:pPr>
            <a:r>
              <a:t>مش تقرير بتطلبه وتستنّاه — صورة حيّة قدامك في أي وقت.</a:t>
            </a:r>
          </a:p>
        </p:txBody>
      </p:sp>
      <p:sp>
        <p:nvSpPr>
          <p:cNvPr id="120" name="Google Shape;84;p4"/>
          <p:cNvSpPr/>
          <p:nvPr/>
        </p:nvSpPr>
        <p:spPr>
          <a:xfrm>
            <a:off x="6200640" y="3303295"/>
            <a:ext cx="11630160" cy="638934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1" name="Google Shape;81;p4"/>
          <p:cNvSpPr txBox="1"/>
          <p:nvPr/>
        </p:nvSpPr>
        <p:spPr>
          <a:xfrm>
            <a:off x="901537" y="3303295"/>
            <a:ext cx="4214828" cy="6389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 rtl="1">
              <a:lnSpc>
                <a:spcPct val="177272"/>
              </a:lnSpc>
              <a:defRPr b="1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تخيّل إنك تبدأ يومك على الشاشة دى — كل أرقام شركتك قدامك في ثانية، من غير ما حد يقضي نُص يومه يجمّعها.</a:t>
            </a:r>
          </a:p>
          <a:p>
            <a:pPr algn="r" rtl="1">
              <a:lnSpc>
                <a:spcPct val="177272"/>
              </a:lnSpc>
              <a:defRPr b="1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الإدارة بتشوف الصورة كاملة وقت ما تحب، والفريق المالي بيوفّر الوقت اللي كان رايح في تجميع البيانات وتجهيز التقارير — عشان يصرفه في التحليل والقرارات اللي بتفرق فعلاً.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89;p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4" name="Google Shape;90;p5"/>
          <p:cNvSpPr/>
          <p:nvPr/>
        </p:nvSpPr>
        <p:spPr>
          <a:xfrm>
            <a:off x="-445140" y="-815729"/>
            <a:ext cx="6258095" cy="381744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" name="Google Shape;91;p5"/>
          <p:cNvSpPr/>
          <p:nvPr/>
        </p:nvSpPr>
        <p:spPr>
          <a:xfrm>
            <a:off x="-1097540" y="7008279"/>
            <a:ext cx="5102467" cy="5102468"/>
          </a:xfrm>
          <a:prstGeom prst="ellipse">
            <a:avLst/>
          </a:prstGeom>
          <a:solidFill>
            <a:srgbClr val="8ECA8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" name="Google Shape;92;p5"/>
          <p:cNvSpPr/>
          <p:nvPr/>
        </p:nvSpPr>
        <p:spPr>
          <a:xfrm>
            <a:off x="16107100" y="9559511"/>
            <a:ext cx="2304402" cy="90735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" name="Google Shape;93;p5"/>
          <p:cNvSpPr txBox="1"/>
          <p:nvPr/>
        </p:nvSpPr>
        <p:spPr>
          <a:xfrm>
            <a:off x="9823280" y="2412156"/>
            <a:ext cx="7436022" cy="358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lnSpc>
                <a:spcPct val="177272"/>
              </a:lnSpc>
              <a:defRPr b="1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اسأل الرقم… يجاوبك في ثانية — من غير ما تستنّى تقرير</a:t>
            </a:r>
          </a:p>
        </p:txBody>
      </p:sp>
      <p:sp>
        <p:nvSpPr>
          <p:cNvPr id="128" name="Google Shape;94;p5"/>
          <p:cNvSpPr txBox="1"/>
          <p:nvPr/>
        </p:nvSpPr>
        <p:spPr>
          <a:xfrm>
            <a:off x="9376995" y="868817"/>
            <a:ext cx="7882305" cy="863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defRPr b="1" sz="6100">
                <a:solidFill>
                  <a:srgbClr val="FFFFFF"/>
                </a:solidFill>
              </a:defRPr>
            </a:lvl1pPr>
          </a:lstStyle>
          <a:p>
            <a:pPr/>
            <a:r>
              <a:t>قوة التعمّق</a:t>
            </a:r>
          </a:p>
        </p:txBody>
      </p:sp>
      <p:sp>
        <p:nvSpPr>
          <p:cNvPr id="129" name="Google Shape;95;p5"/>
          <p:cNvSpPr txBox="1"/>
          <p:nvPr/>
        </p:nvSpPr>
        <p:spPr>
          <a:xfrm>
            <a:off x="6527648" y="3450240"/>
            <a:ext cx="10731652" cy="2563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66991" indent="-233495" algn="r" rtl="1">
              <a:lnSpc>
                <a:spcPct val="252380"/>
              </a:lnSpc>
              <a:buClr>
                <a:srgbClr val="FFFFFF"/>
              </a:buClr>
              <a:buSzPts val="2100"/>
              <a:buFont typeface="Arial"/>
              <a:buChar char="•"/>
              <a:defRPr sz="2100">
                <a:solidFill>
                  <a:srgbClr val="FFFFFF"/>
                </a:solidFill>
              </a:defRPr>
            </a:pPr>
            <a:r>
              <a:t>اضغط على المتأخرات ← أسماء العملاء المتأخرين وقيمة كل واحد، تتصل وتحصّل على طول.</a:t>
            </a:r>
          </a:p>
          <a:p>
            <a:pPr lvl="1" marL="466991" indent="-233495" algn="r" rtl="1">
              <a:lnSpc>
                <a:spcPct val="252380"/>
              </a:lnSpc>
              <a:buClr>
                <a:srgbClr val="FFFFFF"/>
              </a:buClr>
              <a:buSzPts val="2100"/>
              <a:buFont typeface="Arial"/>
              <a:buChar char="•"/>
              <a:defRPr sz="2100">
                <a:solidFill>
                  <a:srgbClr val="FFFFFF"/>
                </a:solidFill>
              </a:defRPr>
            </a:pPr>
            <a:r>
              <a:t>اضغط على المصروفات ← كل جنيه راح على إيه، وأنهي بند بيكبر عليك من غير ما تحس.</a:t>
            </a:r>
          </a:p>
          <a:p>
            <a:pPr lvl="1" marL="466991" indent="-233495" algn="r" rtl="1">
              <a:lnSpc>
                <a:spcPct val="252380"/>
              </a:lnSpc>
              <a:buClr>
                <a:srgbClr val="FFFFFF"/>
              </a:buClr>
              <a:buSzPts val="2100"/>
              <a:buFont typeface="Arial"/>
              <a:buChar char="•"/>
              <a:defRPr sz="2100">
                <a:solidFill>
                  <a:srgbClr val="FFFFFF"/>
                </a:solidFill>
              </a:defRPr>
            </a:pPr>
            <a:r>
              <a:t>اضغط على الإيرادات ← جدول التحصيل المتوقع للشهور الجاية، قدامك قبل ما تحتاجه.</a:t>
            </a:r>
          </a:p>
          <a:p>
            <a:pPr lvl="1" marL="466991" indent="-233495" algn="r" rtl="1">
              <a:lnSpc>
                <a:spcPct val="252380"/>
              </a:lnSpc>
              <a:buClr>
                <a:srgbClr val="FFFFFF"/>
              </a:buClr>
              <a:buSzPts val="2100"/>
              <a:buFont typeface="Arial"/>
              <a:buChar char="•"/>
              <a:defRPr sz="2100">
                <a:solidFill>
                  <a:srgbClr val="FFFFFF"/>
                </a:solidFill>
              </a:defRPr>
            </a:pPr>
            <a:r>
              <a:t>من الصورة الكبيرة لأدق تفصيلة — في ثلاث ضغطات، من غير ما تطلب الرقم من حد.</a:t>
            </a:r>
          </a:p>
        </p:txBody>
      </p:sp>
      <p:sp>
        <p:nvSpPr>
          <p:cNvPr id="130" name="Google Shape;96;p5"/>
          <p:cNvSpPr/>
          <p:nvPr/>
        </p:nvSpPr>
        <p:spPr>
          <a:xfrm>
            <a:off x="4571334" y="7207838"/>
            <a:ext cx="5395626" cy="266768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1" name="Google Shape;97;p5"/>
          <p:cNvSpPr/>
          <p:nvPr/>
        </p:nvSpPr>
        <p:spPr>
          <a:xfrm>
            <a:off x="10149839" y="7207838"/>
            <a:ext cx="5102467" cy="266768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89;p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4" name="Google Shape;90;p5"/>
          <p:cNvSpPr/>
          <p:nvPr/>
        </p:nvSpPr>
        <p:spPr>
          <a:xfrm>
            <a:off x="-445140" y="-815729"/>
            <a:ext cx="6258095" cy="381744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5" name="Google Shape;91;p5"/>
          <p:cNvSpPr/>
          <p:nvPr/>
        </p:nvSpPr>
        <p:spPr>
          <a:xfrm>
            <a:off x="-1097540" y="7008279"/>
            <a:ext cx="5102467" cy="5102468"/>
          </a:xfrm>
          <a:prstGeom prst="ellipse">
            <a:avLst/>
          </a:prstGeom>
          <a:solidFill>
            <a:srgbClr val="8ECA8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6" name="Google Shape;92;p5"/>
          <p:cNvSpPr/>
          <p:nvPr/>
        </p:nvSpPr>
        <p:spPr>
          <a:xfrm>
            <a:off x="16107100" y="9559511"/>
            <a:ext cx="2304402" cy="90735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7" name="Google Shape;94;p5"/>
          <p:cNvSpPr txBox="1"/>
          <p:nvPr/>
        </p:nvSpPr>
        <p:spPr>
          <a:xfrm>
            <a:off x="9376995" y="868817"/>
            <a:ext cx="7882305" cy="863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defRPr b="1" sz="6100">
                <a:solidFill>
                  <a:srgbClr val="FFFFFF"/>
                </a:solidFill>
              </a:defRPr>
            </a:lvl1pPr>
          </a:lstStyle>
          <a:p>
            <a:pPr/>
            <a:r>
              <a:t>قوة التعمّق</a:t>
            </a:r>
          </a:p>
        </p:txBody>
      </p:sp>
      <p:sp>
        <p:nvSpPr>
          <p:cNvPr id="138" name="Google Shape;98;p5"/>
          <p:cNvSpPr/>
          <p:nvPr/>
        </p:nvSpPr>
        <p:spPr>
          <a:xfrm>
            <a:off x="8759025" y="4000500"/>
            <a:ext cx="8360968" cy="409949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" name="Google Shape;93;p5"/>
          <p:cNvSpPr txBox="1"/>
          <p:nvPr/>
        </p:nvSpPr>
        <p:spPr>
          <a:xfrm>
            <a:off x="9964511" y="2411068"/>
            <a:ext cx="7436023" cy="103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lnSpc>
                <a:spcPct val="177272"/>
              </a:lnSpc>
              <a:defRPr b="1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اللي بتشوفه ده مش "تقارير" — ده حل ذكاء أعمال (BI) متكامل، مبني على Microsoft Power BI، أقوى منصّة تحليلات في العالم.</a:t>
            </a:r>
          </a:p>
        </p:txBody>
      </p:sp>
      <p:sp>
        <p:nvSpPr>
          <p:cNvPr id="140" name="Google Shape;93;p5"/>
          <p:cNvSpPr txBox="1"/>
          <p:nvPr/>
        </p:nvSpPr>
        <p:spPr>
          <a:xfrm>
            <a:off x="229888" y="2991010"/>
            <a:ext cx="7436022" cy="5716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 rtl="1">
              <a:lnSpc>
                <a:spcPct val="177272"/>
              </a:lnSpc>
              <a:defRPr b="1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فرق لازم تعرفه قبل ما تقارن:</a:t>
            </a:r>
            <a:br/>
            <a:r>
              <a:t>أي نظام ERP بيديك "تقارير" — قوايم جاهزة بتطلّعها وتطبعها. ده شغل مهم، بس بيقف عند السؤال الأول.</a:t>
            </a:r>
          </a:p>
          <a:p>
            <a:pPr algn="r" rtl="1">
              <a:lnSpc>
                <a:spcPct val="177272"/>
              </a:lnSpc>
              <a:defRPr b="1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الـ BI بيبدأ من حيث ما التقارير بتقف: بيوصّل بياناتك من كل مصادرها في موديل واحد، وبيخليك تسأل وتتعمّق وتكتشف بنفسك من غير ما تطلب تقرير جديد كل مرة.</a:t>
            </a:r>
          </a:p>
          <a:p>
            <a:pPr algn="r" rtl="1">
              <a:lnSpc>
                <a:spcPct val="177272"/>
              </a:lnSpc>
              <a:defRPr b="1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عشان كده الذكاء ده جزء أساسي من حلّنا، مش إضافة على الهامش.</a:t>
            </a:r>
          </a:p>
        </p:txBody>
      </p:sp>
      <p:sp>
        <p:nvSpPr>
          <p:cNvPr id="141" name="Google Shape;93;p5"/>
          <p:cNvSpPr txBox="1"/>
          <p:nvPr/>
        </p:nvSpPr>
        <p:spPr>
          <a:xfrm>
            <a:off x="5793476" y="8657788"/>
            <a:ext cx="7436022" cy="103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 rtl="1">
              <a:lnSpc>
                <a:spcPct val="177272"/>
              </a:lnSpc>
              <a:defRPr b="1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تقارير الـ ERP العادية ⟵ صورة ثابتة، سؤال واحد، بتنطبع</a:t>
            </a:r>
          </a:p>
          <a:p>
            <a:pPr algn="r" rtl="1">
              <a:lnSpc>
                <a:spcPct val="177272"/>
              </a:lnSpc>
              <a:defRPr b="1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ذكاء الأعمال (BI) ⟵ صورة حيّة، أسئلة بلا حدود، بتتعمّق وتتنبّأ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03;p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" name="Google Shape;104;p6"/>
          <p:cNvSpPr/>
          <p:nvPr/>
        </p:nvSpPr>
        <p:spPr>
          <a:xfrm>
            <a:off x="15087274" y="1028699"/>
            <a:ext cx="2172026" cy="85523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5" name="Google Shape;105;p6"/>
          <p:cNvSpPr/>
          <p:nvPr/>
        </p:nvSpPr>
        <p:spPr>
          <a:xfrm flipH="1" rot="10800000">
            <a:off x="-1339599" y="-589410"/>
            <a:ext cx="4736598" cy="288932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6" name="Google Shape;106;p6"/>
          <p:cNvSpPr/>
          <p:nvPr/>
        </p:nvSpPr>
        <p:spPr>
          <a:xfrm>
            <a:off x="4057291" y="4130204"/>
            <a:ext cx="1731251" cy="1731251"/>
          </a:xfrm>
          <a:prstGeom prst="ellipse">
            <a:avLst/>
          </a:prstGeom>
          <a:solidFill>
            <a:srgbClr val="8ECA8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7" name="Google Shape;107;p6"/>
          <p:cNvSpPr/>
          <p:nvPr/>
        </p:nvSpPr>
        <p:spPr>
          <a:xfrm>
            <a:off x="827957" y="4103635"/>
            <a:ext cx="1731250" cy="1731251"/>
          </a:xfrm>
          <a:prstGeom prst="ellipse">
            <a:avLst/>
          </a:prstGeom>
          <a:solidFill>
            <a:srgbClr val="8ECA8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" name="Google Shape;108;p6"/>
          <p:cNvSpPr/>
          <p:nvPr/>
        </p:nvSpPr>
        <p:spPr>
          <a:xfrm>
            <a:off x="7970142" y="4103635"/>
            <a:ext cx="1731251" cy="1731251"/>
          </a:xfrm>
          <a:prstGeom prst="ellipse">
            <a:avLst/>
          </a:prstGeom>
          <a:solidFill>
            <a:srgbClr val="8ECA8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9" name="Google Shape;109;p6"/>
          <p:cNvSpPr/>
          <p:nvPr/>
        </p:nvSpPr>
        <p:spPr>
          <a:xfrm>
            <a:off x="11882996" y="4130204"/>
            <a:ext cx="1731251" cy="1731251"/>
          </a:xfrm>
          <a:prstGeom prst="ellipse">
            <a:avLst/>
          </a:prstGeom>
          <a:solidFill>
            <a:srgbClr val="8ECA8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0" name="Google Shape;110;p6"/>
          <p:cNvSpPr/>
          <p:nvPr/>
        </p:nvSpPr>
        <p:spPr>
          <a:xfrm>
            <a:off x="4379452" y="4495841"/>
            <a:ext cx="1086929" cy="99997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1" name="Google Shape;111;p6"/>
          <p:cNvSpPr/>
          <p:nvPr/>
        </p:nvSpPr>
        <p:spPr>
          <a:xfrm>
            <a:off x="15795848" y="4130204"/>
            <a:ext cx="1731251" cy="1731251"/>
          </a:xfrm>
          <a:prstGeom prst="ellipse">
            <a:avLst/>
          </a:prstGeom>
          <a:solidFill>
            <a:srgbClr val="8ECA8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2" name="Google Shape;112;p6"/>
          <p:cNvSpPr/>
          <p:nvPr/>
        </p:nvSpPr>
        <p:spPr>
          <a:xfrm>
            <a:off x="8229575" y="4495843"/>
            <a:ext cx="1212387" cy="892619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3" name="Google Shape;113;p6"/>
          <p:cNvSpPr/>
          <p:nvPr/>
        </p:nvSpPr>
        <p:spPr>
          <a:xfrm>
            <a:off x="12240728" y="4614378"/>
            <a:ext cx="1015783" cy="892619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4" name="Google Shape;114;p6"/>
          <p:cNvSpPr/>
          <p:nvPr/>
        </p:nvSpPr>
        <p:spPr>
          <a:xfrm>
            <a:off x="16234891" y="4555109"/>
            <a:ext cx="853164" cy="1011157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" name="Google Shape;115;p6"/>
          <p:cNvSpPr/>
          <p:nvPr/>
        </p:nvSpPr>
        <p:spPr>
          <a:xfrm>
            <a:off x="1209874" y="4512123"/>
            <a:ext cx="967412" cy="967413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" name="Google Shape;117;p6"/>
          <p:cNvSpPr txBox="1"/>
          <p:nvPr/>
        </p:nvSpPr>
        <p:spPr>
          <a:xfrm>
            <a:off x="3492815" y="6582405"/>
            <a:ext cx="3058672" cy="1502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rtl="1">
              <a:lnSpc>
                <a:spcPct val="134782"/>
              </a:lnSpc>
              <a:defRPr b="1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قائمة الدخل والأرباح (P&amp;L): أرباحك الحقيقية، شهر بشهر</a:t>
            </a:r>
          </a:p>
        </p:txBody>
      </p:sp>
      <p:sp>
        <p:nvSpPr>
          <p:cNvPr id="157" name="Google Shape;118;p6"/>
          <p:cNvSpPr txBox="1"/>
          <p:nvPr/>
        </p:nvSpPr>
        <p:spPr>
          <a:xfrm>
            <a:off x="190258" y="6462228"/>
            <a:ext cx="3006645" cy="1502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rtl="1">
              <a:lnSpc>
                <a:spcPct val="134782"/>
              </a:lnSpc>
              <a:defRPr b="1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الميزانية العمومية: أصولك والتزاماتك في لحظة واحدة</a:t>
            </a:r>
          </a:p>
        </p:txBody>
      </p:sp>
      <p:sp>
        <p:nvSpPr>
          <p:cNvPr id="158" name="Google Shape;119;p6"/>
          <p:cNvSpPr txBox="1"/>
          <p:nvPr/>
        </p:nvSpPr>
        <p:spPr>
          <a:xfrm>
            <a:off x="7045314" y="6777669"/>
            <a:ext cx="3580906" cy="943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rtl="1">
              <a:lnSpc>
                <a:spcPct val="134782"/>
              </a:lnSpc>
              <a:defRPr b="1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المبيعات والعملاء: مين بيشتري، وإيه الأكثر مبيعاً</a:t>
            </a:r>
          </a:p>
        </p:txBody>
      </p:sp>
      <p:sp>
        <p:nvSpPr>
          <p:cNvPr id="159" name="Google Shape;120;p6"/>
          <p:cNvSpPr txBox="1"/>
          <p:nvPr/>
        </p:nvSpPr>
        <p:spPr>
          <a:xfrm>
            <a:off x="11343378" y="6582405"/>
            <a:ext cx="3164667" cy="1502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rtl="1">
              <a:lnSpc>
                <a:spcPct val="134782"/>
              </a:lnSpc>
              <a:defRPr b="1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البنوك والتدفق النقدي: فلوسك داخلة وخارجة قبل ما تتفاجئ</a:t>
            </a:r>
          </a:p>
        </p:txBody>
      </p:sp>
      <p:sp>
        <p:nvSpPr>
          <p:cNvPr id="160" name="Google Shape;121;p6"/>
          <p:cNvSpPr txBox="1"/>
          <p:nvPr/>
        </p:nvSpPr>
        <p:spPr>
          <a:xfrm>
            <a:off x="15222419" y="6777669"/>
            <a:ext cx="2872538" cy="2042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rtl="1">
              <a:lnSpc>
                <a:spcPct val="134782"/>
              </a:lnSpc>
              <a:defRPr b="1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كله متصل في مكان واحد: أي رقم يتغيّر، اللوحات كلها بتتحدّث فوراً</a:t>
            </a:r>
          </a:p>
        </p:txBody>
      </p:sp>
      <p:sp>
        <p:nvSpPr>
          <p:cNvPr id="161" name="Google Shape;122;p6"/>
          <p:cNvSpPr/>
          <p:nvPr/>
        </p:nvSpPr>
        <p:spPr>
          <a:xfrm>
            <a:off x="457199" y="1737360"/>
            <a:ext cx="4160522" cy="2194561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2" name="Google Shape;123;p6"/>
          <p:cNvSpPr/>
          <p:nvPr/>
        </p:nvSpPr>
        <p:spPr>
          <a:xfrm>
            <a:off x="4800600" y="1737360"/>
            <a:ext cx="4160521" cy="2194561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3" name="Google Shape;124;p6"/>
          <p:cNvSpPr/>
          <p:nvPr/>
        </p:nvSpPr>
        <p:spPr>
          <a:xfrm>
            <a:off x="9144000" y="1737360"/>
            <a:ext cx="4160521" cy="2194561"/>
          </a:xfrm>
          <a:prstGeom prst="rect">
            <a:avLst/>
          </a:prstGeom>
          <a:blipFill>
            <a:blip r:embed="rId1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4" name="Google Shape;125;p6"/>
          <p:cNvSpPr/>
          <p:nvPr/>
        </p:nvSpPr>
        <p:spPr>
          <a:xfrm>
            <a:off x="13487400" y="1737360"/>
            <a:ext cx="4160521" cy="2194561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5" name="Google Shape;120;p6"/>
          <p:cNvSpPr txBox="1"/>
          <p:nvPr/>
        </p:nvSpPr>
        <p:spPr>
          <a:xfrm>
            <a:off x="4181771" y="529199"/>
            <a:ext cx="9412235" cy="632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rtl="1">
              <a:lnSpc>
                <a:spcPct val="134782"/>
              </a:lnSpc>
              <a:defRPr b="1" sz="3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وده مجرد البداية… كل ركن في شركتك له لوحته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 txBox="1"/>
          <p:nvPr/>
        </p:nvSpPr>
        <p:spPr>
          <a:xfrm>
            <a:off x="901065" y="904074"/>
            <a:ext cx="16500349" cy="729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FFFFFF"/>
                </a:solidFill>
              </a:defRPr>
            </a:lvl1pPr>
          </a:lstStyle>
          <a:p>
            <a:pPr/>
            <a:r>
              <a:t>قدرات تحليلية… بين يدي فريقك المالي</a:t>
            </a:r>
          </a:p>
        </p:txBody>
      </p:sp>
      <p:sp>
        <p:nvSpPr>
          <p:cNvPr id="168" name="Text 1"/>
          <p:cNvSpPr txBox="1"/>
          <p:nvPr/>
        </p:nvSpPr>
        <p:spPr>
          <a:xfrm>
            <a:off x="901065" y="2021745"/>
            <a:ext cx="16500349" cy="482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2400">
                <a:solidFill>
                  <a:srgbClr val="A9D18E"/>
                </a:solidFill>
              </a:defRPr>
            </a:lvl1pPr>
          </a:lstStyle>
          <a:p>
            <a:pPr/>
            <a:r>
              <a:t>نموذج مالي مبني على Microsoft Power BI يحوّل دليل حساباتك إلى تحليلٍ حيّ يدعم القرار.</a:t>
            </a:r>
          </a:p>
        </p:txBody>
      </p:sp>
      <p:sp>
        <p:nvSpPr>
          <p:cNvPr id="169" name="Shape 2"/>
          <p:cNvSpPr/>
          <p:nvPr/>
        </p:nvSpPr>
        <p:spPr>
          <a:xfrm>
            <a:off x="9473564" y="3086100"/>
            <a:ext cx="7680961" cy="2811781"/>
          </a:xfrm>
          <a:prstGeom prst="roundRect">
            <a:avLst>
              <a:gd name="adj" fmla="val 3902"/>
            </a:avLst>
          </a:prstGeom>
          <a:solidFill>
            <a:srgbClr val="16304F"/>
          </a:solidFill>
          <a:ln w="12700">
            <a:solidFill>
              <a:srgbClr val="2C4A66"/>
            </a:solidFill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" name="Shape 3"/>
          <p:cNvSpPr/>
          <p:nvPr/>
        </p:nvSpPr>
        <p:spPr>
          <a:xfrm>
            <a:off x="16331564" y="3387852"/>
            <a:ext cx="548641" cy="548641"/>
          </a:xfrm>
          <a:prstGeom prst="ellipse">
            <a:avLst/>
          </a:prstGeom>
          <a:solidFill>
            <a:srgbClr val="8DC63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1" name="Text 4"/>
          <p:cNvSpPr txBox="1"/>
          <p:nvPr/>
        </p:nvSpPr>
        <p:spPr>
          <a:xfrm>
            <a:off x="9816464" y="3409001"/>
            <a:ext cx="6446521" cy="520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2600">
                <a:solidFill>
                  <a:srgbClr val="8DC63F"/>
                </a:solidFill>
              </a:defRPr>
            </a:lvl1pPr>
          </a:lstStyle>
          <a:p>
            <a:pPr/>
            <a:r>
              <a:t>التحليل الرأسي</a:t>
            </a:r>
          </a:p>
        </p:txBody>
      </p:sp>
      <p:sp>
        <p:nvSpPr>
          <p:cNvPr id="172" name="Text 5"/>
          <p:cNvSpPr txBox="1"/>
          <p:nvPr/>
        </p:nvSpPr>
        <p:spPr>
          <a:xfrm>
            <a:off x="9885044" y="4548599"/>
            <a:ext cx="6858001" cy="709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lnSpc>
                <a:spcPct val="117999"/>
              </a:lnSpc>
              <a:defRPr sz="1800">
                <a:solidFill>
                  <a:srgbClr val="FFFFFF"/>
                </a:solidFill>
              </a:defRPr>
            </a:lvl1pPr>
          </a:lstStyle>
          <a:p>
            <a:pPr/>
            <a:r>
              <a:t>عرض كل بند كنسبة من إجماليه — توزيع الأصول المتداولة وغير المتداولة، ووزن النقدية والمخزون في القائمة — آلياً.</a:t>
            </a:r>
          </a:p>
        </p:txBody>
      </p:sp>
      <p:sp>
        <p:nvSpPr>
          <p:cNvPr id="173" name="Shape 6"/>
          <p:cNvSpPr/>
          <p:nvPr/>
        </p:nvSpPr>
        <p:spPr>
          <a:xfrm>
            <a:off x="1175385" y="3086100"/>
            <a:ext cx="7680961" cy="2811781"/>
          </a:xfrm>
          <a:prstGeom prst="roundRect">
            <a:avLst>
              <a:gd name="adj" fmla="val 3902"/>
            </a:avLst>
          </a:prstGeom>
          <a:solidFill>
            <a:srgbClr val="16304F"/>
          </a:solidFill>
          <a:ln w="12700">
            <a:solidFill>
              <a:srgbClr val="2C4A66"/>
            </a:solidFill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" name="Shape 7"/>
          <p:cNvSpPr/>
          <p:nvPr/>
        </p:nvSpPr>
        <p:spPr>
          <a:xfrm>
            <a:off x="8033385" y="3387852"/>
            <a:ext cx="548641" cy="548641"/>
          </a:xfrm>
          <a:prstGeom prst="ellipse">
            <a:avLst/>
          </a:prstGeom>
          <a:solidFill>
            <a:srgbClr val="8DC63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5" name="Text 8"/>
          <p:cNvSpPr txBox="1"/>
          <p:nvPr/>
        </p:nvSpPr>
        <p:spPr>
          <a:xfrm>
            <a:off x="1518284" y="3409001"/>
            <a:ext cx="6446521" cy="520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2600">
                <a:solidFill>
                  <a:srgbClr val="8DC63F"/>
                </a:solidFill>
              </a:defRPr>
            </a:lvl1pPr>
          </a:lstStyle>
          <a:p>
            <a:pPr/>
            <a:r>
              <a:t>التحليل الأفقي</a:t>
            </a:r>
          </a:p>
        </p:txBody>
      </p:sp>
      <p:sp>
        <p:nvSpPr>
          <p:cNvPr id="176" name="Text 9"/>
          <p:cNvSpPr txBox="1"/>
          <p:nvPr/>
        </p:nvSpPr>
        <p:spPr>
          <a:xfrm>
            <a:off x="1586864" y="4548599"/>
            <a:ext cx="6858001" cy="709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lnSpc>
                <a:spcPct val="117999"/>
              </a:lnSpc>
              <a:defRPr sz="1800">
                <a:solidFill>
                  <a:srgbClr val="FFFFFF"/>
                </a:solidFill>
              </a:defRPr>
            </a:lvl1pPr>
          </a:lstStyle>
          <a:p>
            <a:pPr/>
            <a:r>
              <a:t>مقارنة الأداء عبر الفترات: الذمم المدينة، الالتزامات المتداولة، وحساب التشغيل، مع احتساب نسب التغيّر تلقائياً.</a:t>
            </a:r>
          </a:p>
        </p:txBody>
      </p:sp>
      <p:sp>
        <p:nvSpPr>
          <p:cNvPr id="177" name="Shape 10"/>
          <p:cNvSpPr/>
          <p:nvPr/>
        </p:nvSpPr>
        <p:spPr>
          <a:xfrm>
            <a:off x="9473564" y="6240780"/>
            <a:ext cx="7680961" cy="2811781"/>
          </a:xfrm>
          <a:prstGeom prst="roundRect">
            <a:avLst>
              <a:gd name="adj" fmla="val 3902"/>
            </a:avLst>
          </a:prstGeom>
          <a:solidFill>
            <a:srgbClr val="16304F"/>
          </a:solidFill>
          <a:ln w="12700">
            <a:solidFill>
              <a:srgbClr val="2C4A66"/>
            </a:solidFill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8" name="Shape 11"/>
          <p:cNvSpPr/>
          <p:nvPr/>
        </p:nvSpPr>
        <p:spPr>
          <a:xfrm>
            <a:off x="16331564" y="6542532"/>
            <a:ext cx="548641" cy="548641"/>
          </a:xfrm>
          <a:prstGeom prst="ellipse">
            <a:avLst/>
          </a:prstGeom>
          <a:solidFill>
            <a:srgbClr val="8DC63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9" name="Text 12"/>
          <p:cNvSpPr txBox="1"/>
          <p:nvPr/>
        </p:nvSpPr>
        <p:spPr>
          <a:xfrm>
            <a:off x="9816464" y="6563681"/>
            <a:ext cx="6446521" cy="52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2600">
                <a:solidFill>
                  <a:srgbClr val="8DC63F"/>
                </a:solidFill>
              </a:defRPr>
            </a:lvl1pPr>
          </a:lstStyle>
          <a:p>
            <a:pPr/>
            <a:r>
              <a:t>المؤشرات المالية</a:t>
            </a:r>
          </a:p>
        </p:txBody>
      </p:sp>
      <p:sp>
        <p:nvSpPr>
          <p:cNvPr id="180" name="Text 13"/>
          <p:cNvSpPr txBox="1"/>
          <p:nvPr/>
        </p:nvSpPr>
        <p:spPr>
          <a:xfrm>
            <a:off x="9885044" y="7703279"/>
            <a:ext cx="6858001" cy="709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lnSpc>
                <a:spcPct val="117999"/>
              </a:lnSpc>
              <a:defRPr sz="1800">
                <a:solidFill>
                  <a:srgbClr val="FFFFFF"/>
                </a:solidFill>
              </a:defRPr>
            </a:lvl1pPr>
          </a:lstStyle>
          <a:p>
            <a:pPr/>
            <a:r>
              <a:t>السيولة، رأس المال العامل، ونسبة الذمم إلى المبيعات — مؤشرات تُحتسب وتتحدّث لحظة تسجيل أي قيد.</a:t>
            </a:r>
          </a:p>
        </p:txBody>
      </p:sp>
      <p:sp>
        <p:nvSpPr>
          <p:cNvPr id="181" name="Shape 14"/>
          <p:cNvSpPr/>
          <p:nvPr/>
        </p:nvSpPr>
        <p:spPr>
          <a:xfrm>
            <a:off x="1175385" y="6240780"/>
            <a:ext cx="7680961" cy="2811781"/>
          </a:xfrm>
          <a:prstGeom prst="roundRect">
            <a:avLst>
              <a:gd name="adj" fmla="val 3902"/>
            </a:avLst>
          </a:prstGeom>
          <a:solidFill>
            <a:srgbClr val="16304F"/>
          </a:solidFill>
          <a:ln w="12700">
            <a:solidFill>
              <a:srgbClr val="2C4A66"/>
            </a:solidFill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2" name="Shape 15"/>
          <p:cNvSpPr/>
          <p:nvPr/>
        </p:nvSpPr>
        <p:spPr>
          <a:xfrm>
            <a:off x="8033385" y="6542532"/>
            <a:ext cx="548641" cy="548641"/>
          </a:xfrm>
          <a:prstGeom prst="ellipse">
            <a:avLst/>
          </a:prstGeom>
          <a:solidFill>
            <a:srgbClr val="8DC63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" name="Text 16"/>
          <p:cNvSpPr txBox="1"/>
          <p:nvPr/>
        </p:nvSpPr>
        <p:spPr>
          <a:xfrm>
            <a:off x="1518284" y="6563681"/>
            <a:ext cx="6446521" cy="52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2600">
                <a:solidFill>
                  <a:srgbClr val="8DC63F"/>
                </a:solidFill>
              </a:defRPr>
            </a:lvl1pPr>
          </a:lstStyle>
          <a:p>
            <a:pPr/>
            <a:r>
              <a:t>مقارنة المشاريع</a:t>
            </a:r>
          </a:p>
        </p:txBody>
      </p:sp>
      <p:sp>
        <p:nvSpPr>
          <p:cNvPr id="184" name="Text 17"/>
          <p:cNvSpPr txBox="1"/>
          <p:nvPr/>
        </p:nvSpPr>
        <p:spPr>
          <a:xfrm>
            <a:off x="1586864" y="7703279"/>
            <a:ext cx="6858001" cy="709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lnSpc>
                <a:spcPct val="117999"/>
              </a:lnSpc>
              <a:defRPr sz="1800">
                <a:solidFill>
                  <a:srgbClr val="FFFFFF"/>
                </a:solidFill>
              </a:defRPr>
            </a:lvl1pPr>
          </a:lstStyle>
          <a:p>
            <a:pPr/>
            <a:r>
              <a:t>إيرادات كل مشروع وتكاليفه وهامش ربحه في لوحة واحدة — لتمييز المشروع الرابح من المستنزف للأرباح.</a:t>
            </a:r>
          </a:p>
        </p:txBody>
      </p:sp>
      <p:sp>
        <p:nvSpPr>
          <p:cNvPr id="185" name="Shape 18"/>
          <p:cNvSpPr/>
          <p:nvPr/>
        </p:nvSpPr>
        <p:spPr>
          <a:xfrm>
            <a:off x="9524" y="9258300"/>
            <a:ext cx="18287544" cy="1028700"/>
          </a:xfrm>
          <a:prstGeom prst="rect">
            <a:avLst/>
          </a:prstGeom>
          <a:solidFill>
            <a:srgbClr val="8DC63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" name="Text 19"/>
          <p:cNvSpPr txBox="1"/>
          <p:nvPr/>
        </p:nvSpPr>
        <p:spPr>
          <a:xfrm>
            <a:off x="626744" y="9562174"/>
            <a:ext cx="17048990" cy="420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ctr" defTabSz="1371600" rtl="1">
              <a:defRPr b="1" sz="2000">
                <a:solidFill>
                  <a:srgbClr val="0E2240"/>
                </a:solidFill>
              </a:defRPr>
            </a:lvl1pPr>
          </a:lstStyle>
          <a:p>
            <a:pPr/>
            <a:r>
              <a:t>النظام يتولّى التجميع والتنسيق… ليتفرّغ فريقك للتحليل والرأي الذي لا يقدّمه سواه.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30;p7"/>
          <p:cNvSpPr/>
          <p:nvPr/>
        </p:nvSpPr>
        <p:spPr>
          <a:xfrm flipH="1" rot="10800000">
            <a:off x="-492294" y="-453606"/>
            <a:ext cx="5403240" cy="3295978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9" name="Google Shape;131;p7"/>
          <p:cNvSpPr/>
          <p:nvPr/>
        </p:nvSpPr>
        <p:spPr>
          <a:xfrm>
            <a:off x="-92185" y="7374549"/>
            <a:ext cx="6087154" cy="6087153"/>
          </a:xfrm>
          <a:prstGeom prst="ellipse">
            <a:avLst/>
          </a:prstGeom>
          <a:solidFill>
            <a:srgbClr val="8ECA8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0" name="Google Shape;132;p7"/>
          <p:cNvSpPr/>
          <p:nvPr/>
        </p:nvSpPr>
        <p:spPr>
          <a:xfrm>
            <a:off x="-1509766" y="4018722"/>
            <a:ext cx="6078995" cy="60689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29" y="0"/>
                </a:moveTo>
                <a:lnTo>
                  <a:pt x="21171" y="0"/>
                </a:lnTo>
                <a:cubicBezTo>
                  <a:pt x="21284" y="0"/>
                  <a:pt x="21394" y="45"/>
                  <a:pt x="21474" y="126"/>
                </a:cubicBezTo>
                <a:cubicBezTo>
                  <a:pt x="21555" y="207"/>
                  <a:pt x="21600" y="316"/>
                  <a:pt x="21600" y="430"/>
                </a:cubicBezTo>
                <a:lnTo>
                  <a:pt x="21600" y="21170"/>
                </a:lnTo>
                <a:cubicBezTo>
                  <a:pt x="21600" y="21284"/>
                  <a:pt x="21555" y="21393"/>
                  <a:pt x="21474" y="21474"/>
                </a:cubicBezTo>
                <a:cubicBezTo>
                  <a:pt x="21394" y="21555"/>
                  <a:pt x="21284" y="21600"/>
                  <a:pt x="21171" y="21600"/>
                </a:cubicBezTo>
                <a:lnTo>
                  <a:pt x="429" y="21600"/>
                </a:lnTo>
                <a:cubicBezTo>
                  <a:pt x="316" y="21600"/>
                  <a:pt x="206" y="21555"/>
                  <a:pt x="126" y="21474"/>
                </a:cubicBezTo>
                <a:cubicBezTo>
                  <a:pt x="45" y="21393"/>
                  <a:pt x="0" y="21284"/>
                  <a:pt x="0" y="21170"/>
                </a:cubicBezTo>
                <a:lnTo>
                  <a:pt x="0" y="430"/>
                </a:lnTo>
                <a:cubicBezTo>
                  <a:pt x="0" y="316"/>
                  <a:pt x="45" y="207"/>
                  <a:pt x="126" y="126"/>
                </a:cubicBezTo>
                <a:cubicBezTo>
                  <a:pt x="206" y="45"/>
                  <a:pt x="316" y="0"/>
                  <a:pt x="42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1" name="Google Shape;133;p7"/>
          <p:cNvSpPr txBox="1"/>
          <p:nvPr/>
        </p:nvSpPr>
        <p:spPr>
          <a:xfrm>
            <a:off x="6769175" y="3574610"/>
            <a:ext cx="9861614" cy="2218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 rtl="1">
              <a:lnSpc>
                <a:spcPct val="180000"/>
              </a:lnSpc>
              <a:defRPr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إنوفاتك شركة مصرية متخصّصة في بناء أنظمة ERP للشركات الكبرى والمطوّرين العقاريين والمصانع.</a:t>
            </a:r>
          </a:p>
          <a:p>
            <a:pPr algn="r" rtl="1">
              <a:lnSpc>
                <a:spcPct val="180000"/>
              </a:lnSpc>
              <a:defRPr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نبني لك نظاماً متكاملاً يدير كل عمليات شركتك، متّصلاً بطبقة تحليلية من Power BI تحوّل بياناتك إلى قرارات واضحة.</a:t>
            </a:r>
          </a:p>
          <a:p>
            <a:pPr algn="r" rtl="1">
              <a:lnSpc>
                <a:spcPct val="180000"/>
              </a:lnSpc>
              <a:defRPr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نظام سحابي، آمن، مبني على تقنيات عالمية — وبدعم محلي بالكامل داخل مصر.</a:t>
            </a:r>
          </a:p>
        </p:txBody>
      </p:sp>
      <p:sp>
        <p:nvSpPr>
          <p:cNvPr id="192" name="Google Shape;134;p7"/>
          <p:cNvSpPr/>
          <p:nvPr/>
        </p:nvSpPr>
        <p:spPr>
          <a:xfrm>
            <a:off x="15413834" y="236032"/>
            <a:ext cx="2433908" cy="95835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3" name="Google Shape;136;p7"/>
          <p:cNvSpPr/>
          <p:nvPr/>
        </p:nvSpPr>
        <p:spPr>
          <a:xfrm flipH="1">
            <a:off x="3687896" y="7902768"/>
            <a:ext cx="153704" cy="25511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4" name="Google Shape;137;p7"/>
          <p:cNvSpPr txBox="1"/>
          <p:nvPr/>
        </p:nvSpPr>
        <p:spPr>
          <a:xfrm>
            <a:off x="15389412" y="3196339"/>
            <a:ext cx="1241377" cy="357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defRPr b="1" sz="2500">
                <a:solidFill>
                  <a:srgbClr val="8ECA85"/>
                </a:solidFill>
              </a:defRPr>
            </a:lvl1pPr>
          </a:lstStyle>
          <a:p>
            <a:pPr/>
            <a:r>
              <a:t>من نحن؟</a:t>
            </a:r>
          </a:p>
        </p:txBody>
      </p:sp>
      <p:sp>
        <p:nvSpPr>
          <p:cNvPr id="195" name="Google Shape;138;p7"/>
          <p:cNvSpPr txBox="1"/>
          <p:nvPr/>
        </p:nvSpPr>
        <p:spPr>
          <a:xfrm>
            <a:off x="10573780" y="1878439"/>
            <a:ext cx="6057008" cy="101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defRPr b="1" sz="7200">
                <a:solidFill>
                  <a:srgbClr val="FFFFFF"/>
                </a:solidFill>
              </a:defRPr>
            </a:lvl1pPr>
          </a:lstStyle>
          <a:p>
            <a:pPr/>
            <a:r>
              <a:t>نبذة عن الشركة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30;p7"/>
          <p:cNvSpPr/>
          <p:nvPr/>
        </p:nvSpPr>
        <p:spPr>
          <a:xfrm flipH="1" rot="10800000">
            <a:off x="-492294" y="-453606"/>
            <a:ext cx="5403240" cy="3295978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8" name="Google Shape;131;p7"/>
          <p:cNvSpPr/>
          <p:nvPr/>
        </p:nvSpPr>
        <p:spPr>
          <a:xfrm>
            <a:off x="-92185" y="7374549"/>
            <a:ext cx="6087154" cy="6087153"/>
          </a:xfrm>
          <a:prstGeom prst="ellipse">
            <a:avLst/>
          </a:prstGeom>
          <a:solidFill>
            <a:srgbClr val="8ECA8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9" name="Google Shape;132;p7"/>
          <p:cNvSpPr/>
          <p:nvPr/>
        </p:nvSpPr>
        <p:spPr>
          <a:xfrm>
            <a:off x="-1509766" y="4018722"/>
            <a:ext cx="6078995" cy="60689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29" y="0"/>
                </a:moveTo>
                <a:lnTo>
                  <a:pt x="21171" y="0"/>
                </a:lnTo>
                <a:cubicBezTo>
                  <a:pt x="21284" y="0"/>
                  <a:pt x="21394" y="45"/>
                  <a:pt x="21474" y="126"/>
                </a:cubicBezTo>
                <a:cubicBezTo>
                  <a:pt x="21555" y="207"/>
                  <a:pt x="21600" y="316"/>
                  <a:pt x="21600" y="430"/>
                </a:cubicBezTo>
                <a:lnTo>
                  <a:pt x="21600" y="21170"/>
                </a:lnTo>
                <a:cubicBezTo>
                  <a:pt x="21600" y="21284"/>
                  <a:pt x="21555" y="21393"/>
                  <a:pt x="21474" y="21474"/>
                </a:cubicBezTo>
                <a:cubicBezTo>
                  <a:pt x="21394" y="21555"/>
                  <a:pt x="21284" y="21600"/>
                  <a:pt x="21171" y="21600"/>
                </a:cubicBezTo>
                <a:lnTo>
                  <a:pt x="429" y="21600"/>
                </a:lnTo>
                <a:cubicBezTo>
                  <a:pt x="316" y="21600"/>
                  <a:pt x="206" y="21555"/>
                  <a:pt x="126" y="21474"/>
                </a:cubicBezTo>
                <a:cubicBezTo>
                  <a:pt x="45" y="21393"/>
                  <a:pt x="0" y="21284"/>
                  <a:pt x="0" y="21170"/>
                </a:cubicBezTo>
                <a:lnTo>
                  <a:pt x="0" y="430"/>
                </a:lnTo>
                <a:cubicBezTo>
                  <a:pt x="0" y="316"/>
                  <a:pt x="45" y="207"/>
                  <a:pt x="126" y="126"/>
                </a:cubicBezTo>
                <a:cubicBezTo>
                  <a:pt x="206" y="45"/>
                  <a:pt x="316" y="0"/>
                  <a:pt x="42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" name="Google Shape;133;p7"/>
          <p:cNvSpPr txBox="1"/>
          <p:nvPr/>
        </p:nvSpPr>
        <p:spPr>
          <a:xfrm>
            <a:off x="6883475" y="3574610"/>
            <a:ext cx="9861614" cy="1588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lnSpc>
                <a:spcPct val="180000"/>
              </a:lnSpc>
              <a:defRPr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نظامنا مش مبني من الصفر ولا تجربة جديدة — جذوره في Apache OFBiz، أحد أعرق أنظمة الـ ERP مفتوحة المصدر المستخدمة عالمياً. أخدنا الأساس المؤسسي المُجرّب ده، وأعدنا بناءه بالكامل على تقنيات Microsoft الحديثة (.NET / C#) وReact — ونملكه بالكامل.</a:t>
            </a:r>
          </a:p>
        </p:txBody>
      </p:sp>
      <p:sp>
        <p:nvSpPr>
          <p:cNvPr id="201" name="Google Shape;134;p7"/>
          <p:cNvSpPr/>
          <p:nvPr/>
        </p:nvSpPr>
        <p:spPr>
          <a:xfrm>
            <a:off x="15413834" y="236032"/>
            <a:ext cx="2433908" cy="95835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2" name="Google Shape;136;p7"/>
          <p:cNvSpPr/>
          <p:nvPr/>
        </p:nvSpPr>
        <p:spPr>
          <a:xfrm flipH="1">
            <a:off x="3687896" y="7902768"/>
            <a:ext cx="153704" cy="25511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3" name="Google Shape;138;p7"/>
          <p:cNvSpPr txBox="1"/>
          <p:nvPr/>
        </p:nvSpPr>
        <p:spPr>
          <a:xfrm>
            <a:off x="10573780" y="1878439"/>
            <a:ext cx="6057008" cy="101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defRPr b="1" sz="7200">
                <a:solidFill>
                  <a:srgbClr val="FFFFFF"/>
                </a:solidFill>
              </a:defRPr>
            </a:lvl1pPr>
          </a:lstStyle>
          <a:p>
            <a:pPr/>
            <a:r>
              <a:t>ليه تثق في نظامنا؟</a:t>
            </a:r>
          </a:p>
        </p:txBody>
      </p:sp>
      <p:sp>
        <p:nvSpPr>
          <p:cNvPr id="204" name="Google Shape;133;p7"/>
          <p:cNvSpPr txBox="1"/>
          <p:nvPr/>
        </p:nvSpPr>
        <p:spPr>
          <a:xfrm>
            <a:off x="6986353" y="5848204"/>
            <a:ext cx="9861614" cy="95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lnSpc>
                <a:spcPct val="180000"/>
              </a:lnSpc>
              <a:defRPr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وعشان إحنا مالكين الكود بالكامل، أي تعديل أو إضافة تحتاجها شركتك بنعملها — من غير ما نستنى مورّد بره، ومن غير ما نكون مربوطين بقيود نظام مقفول. النظام بيكبر مع شركتك، مش العكس.</a:t>
            </a:r>
          </a:p>
        </p:txBody>
      </p:sp>
      <p:sp>
        <p:nvSpPr>
          <p:cNvPr id="205" name="Google Shape;133;p7"/>
          <p:cNvSpPr txBox="1"/>
          <p:nvPr/>
        </p:nvSpPr>
        <p:spPr>
          <a:xfrm>
            <a:off x="6986353" y="7550485"/>
            <a:ext cx="9861614" cy="95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lnSpc>
                <a:spcPct val="180000"/>
              </a:lnSpc>
              <a:defRPr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وبعكس الأنظمة اللي بتدفع فيها اشتراك شهري عن كل مستخدم — مدى الحياة — نظامنا ملكك. تدفع مرّة، تمتلكه، وتوسّعه وقت ما تحب، من غير فاتورة بتكبر كل ما فريقك يكبر.</a:t>
            </a:r>
          </a:p>
        </p:txBody>
      </p:sp>
      <p:sp>
        <p:nvSpPr>
          <p:cNvPr id="206" name="Google Shape;133;p7"/>
          <p:cNvSpPr txBox="1"/>
          <p:nvPr/>
        </p:nvSpPr>
        <p:spPr>
          <a:xfrm>
            <a:off x="4931057" y="9469193"/>
            <a:ext cx="9861614" cy="33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lnSpc>
                <a:spcPct val="180000"/>
              </a:lnSpc>
              <a:defRPr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أساس مؤسسي عالمي… بتقنية Microsoft حديثة… وملكية كاملة ليك.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144;p8"/>
          <p:cNvSpPr/>
          <p:nvPr/>
        </p:nvSpPr>
        <p:spPr>
          <a:xfrm flipH="1">
            <a:off x="13551405" y="8525433"/>
            <a:ext cx="4736596" cy="288932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9" name="Google Shape;145;p8"/>
          <p:cNvSpPr/>
          <p:nvPr/>
        </p:nvSpPr>
        <p:spPr>
          <a:xfrm flipH="1">
            <a:off x="12683014" y="-2631852"/>
            <a:ext cx="9367641" cy="571426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" name="Google Shape;146;p8"/>
          <p:cNvSpPr/>
          <p:nvPr/>
        </p:nvSpPr>
        <p:spPr>
          <a:xfrm>
            <a:off x="14635308" y="3379180"/>
            <a:ext cx="1284397" cy="1284397"/>
          </a:xfrm>
          <a:prstGeom prst="ellipse">
            <a:avLst/>
          </a:prstGeom>
          <a:solidFill>
            <a:srgbClr val="8ECA8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1" name="Google Shape;147;p8"/>
          <p:cNvSpPr/>
          <p:nvPr/>
        </p:nvSpPr>
        <p:spPr>
          <a:xfrm>
            <a:off x="1028699" y="1028699"/>
            <a:ext cx="2172026" cy="85523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2" name="Google Shape;148;p8"/>
          <p:cNvSpPr/>
          <p:nvPr/>
        </p:nvSpPr>
        <p:spPr>
          <a:xfrm>
            <a:off x="14973985" y="3664820"/>
            <a:ext cx="607042" cy="71311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3" name="Google Shape;149;p8"/>
          <p:cNvSpPr txBox="1"/>
          <p:nvPr/>
        </p:nvSpPr>
        <p:spPr>
          <a:xfrm>
            <a:off x="12203090" y="3631531"/>
            <a:ext cx="1212633" cy="296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defRPr b="1" sz="2100">
                <a:solidFill>
                  <a:srgbClr val="8ECA85"/>
                </a:solidFill>
              </a:defRPr>
            </a:lvl1pPr>
          </a:lstStyle>
          <a:p>
            <a:pPr/>
            <a:r>
              <a:t>الرؤية:</a:t>
            </a:r>
          </a:p>
        </p:txBody>
      </p:sp>
      <p:sp>
        <p:nvSpPr>
          <p:cNvPr id="214" name="Google Shape;150;p8"/>
          <p:cNvSpPr txBox="1"/>
          <p:nvPr/>
        </p:nvSpPr>
        <p:spPr>
          <a:xfrm>
            <a:off x="8235963" y="1700377"/>
            <a:ext cx="7041545" cy="1123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rtl="1">
              <a:defRPr b="1" sz="7800">
                <a:solidFill>
                  <a:srgbClr val="FFFFFF"/>
                </a:solidFill>
              </a:defRPr>
            </a:lvl1pPr>
          </a:lstStyle>
          <a:p>
            <a:pPr/>
            <a:r>
              <a:t>الرؤية والرسالة </a:t>
            </a:r>
          </a:p>
        </p:txBody>
      </p:sp>
      <p:grpSp>
        <p:nvGrpSpPr>
          <p:cNvPr id="217" name="Google Shape;151;p8"/>
          <p:cNvGrpSpPr/>
          <p:nvPr/>
        </p:nvGrpSpPr>
        <p:grpSpPr>
          <a:xfrm>
            <a:off x="14668481" y="6573894"/>
            <a:ext cx="1218051" cy="1218051"/>
            <a:chOff x="0" y="0"/>
            <a:chExt cx="1218049" cy="1218049"/>
          </a:xfrm>
        </p:grpSpPr>
        <p:sp>
          <p:nvSpPr>
            <p:cNvPr id="215" name="Google Shape;152;p8"/>
            <p:cNvSpPr/>
            <p:nvPr/>
          </p:nvSpPr>
          <p:spPr>
            <a:xfrm>
              <a:off x="0" y="0"/>
              <a:ext cx="1218051" cy="1218051"/>
            </a:xfrm>
            <a:prstGeom prst="ellipse">
              <a:avLst/>
            </a:prstGeom>
            <a:solidFill>
              <a:srgbClr val="8ECA8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16" name="Google Shape;153;p8"/>
            <p:cNvSpPr/>
            <p:nvPr/>
          </p:nvSpPr>
          <p:spPr>
            <a:xfrm>
              <a:off x="240084" y="246539"/>
              <a:ext cx="737882" cy="724971"/>
            </a:xfrm>
            <a:prstGeom prst="rect">
              <a:avLst/>
            </a:prstGeom>
            <a:blipFill rotWithShape="1">
              <a:blip r:embed="rId5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18" name="Google Shape;154;p8"/>
          <p:cNvSpPr txBox="1"/>
          <p:nvPr/>
        </p:nvSpPr>
        <p:spPr>
          <a:xfrm>
            <a:off x="12606490" y="6905242"/>
            <a:ext cx="1021442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defRPr b="1" sz="2000">
                <a:solidFill>
                  <a:srgbClr val="8ECA85"/>
                </a:solidFill>
              </a:defRPr>
            </a:lvl1pPr>
          </a:lstStyle>
          <a:p>
            <a:pPr/>
            <a:r>
              <a:t>الرسالة:</a:t>
            </a:r>
          </a:p>
        </p:txBody>
      </p:sp>
      <p:sp>
        <p:nvSpPr>
          <p:cNvPr id="219" name="Google Shape;155;p8"/>
          <p:cNvSpPr txBox="1"/>
          <p:nvPr/>
        </p:nvSpPr>
        <p:spPr>
          <a:xfrm>
            <a:off x="4721078" y="7306743"/>
            <a:ext cx="8909865" cy="1602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 rtl="1">
              <a:lnSpc>
                <a:spcPct val="147826"/>
              </a:lnSpc>
              <a:defRPr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أن نضع صورة شركتك كاملة وواضحة بين يديك في أي لحظة — عبر نظام ERP دقيق وطبقة ذكاء أعمال (BI) تجعل كل رقم مفهوماً، وكل قرار مدعوماً، وتُحرّر فريقك من جمع البيانات ليتفرّغ لما هو أهم.</a:t>
            </a:r>
          </a:p>
        </p:txBody>
      </p:sp>
      <p:sp>
        <p:nvSpPr>
          <p:cNvPr id="220" name="Google Shape;156;p8"/>
          <p:cNvSpPr txBox="1"/>
          <p:nvPr/>
        </p:nvSpPr>
        <p:spPr>
          <a:xfrm>
            <a:off x="5931830" y="3896064"/>
            <a:ext cx="7696101" cy="1044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 rtl="1">
              <a:lnSpc>
                <a:spcPct val="160869"/>
              </a:lnSpc>
              <a:defRPr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أن نكون الاسم الأول في مصر والمنطقة لكل شركة تقرّر أن تُدار بالبيانات، لا بالتخمين.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161;p9"/>
          <p:cNvSpPr/>
          <p:nvPr/>
        </p:nvSpPr>
        <p:spPr>
          <a:xfrm>
            <a:off x="-1976848" y="-1726277"/>
            <a:ext cx="6258096" cy="3817438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3" name="Google Shape;162;p9"/>
          <p:cNvSpPr txBox="1"/>
          <p:nvPr/>
        </p:nvSpPr>
        <p:spPr>
          <a:xfrm>
            <a:off x="9204738" y="3461015"/>
            <a:ext cx="8054562" cy="3567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 rtl="1">
              <a:lnSpc>
                <a:spcPct val="156521"/>
              </a:lnSpc>
              <a:defRPr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أسّسنا إنوفاتِك بعد ما رأينا — بأعيننا — شركات كبيرة تتّخذ قرارات مصيرية بناءً على أرقام خاطئة، أو معلومة جاءت من ذاكرة موظف لا من نظام موثوق.</a:t>
            </a:r>
          </a:p>
          <a:p>
            <a:pPr algn="r" rtl="1">
              <a:lnSpc>
                <a:spcPct val="156521"/>
              </a:lnSpc>
              <a:defRPr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هدفنا ليس أن نبيع برنامجاً — هدفنا أن يرى صاحب الشركة شركته كما هي بالضبط، فيتّخذ قراره بثقة ويبني على أساس صلب.</a:t>
            </a:r>
          </a:p>
          <a:p>
            <a:pPr algn="r" rtl="1">
              <a:lnSpc>
                <a:spcPct val="156521"/>
              </a:lnSpc>
              <a:defRPr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— عماد رضوان، المؤسس والرئيس التنفيذي</a:t>
            </a:r>
          </a:p>
        </p:txBody>
      </p:sp>
      <p:sp>
        <p:nvSpPr>
          <p:cNvPr id="224" name="Google Shape;163;p9"/>
          <p:cNvSpPr/>
          <p:nvPr/>
        </p:nvSpPr>
        <p:spPr>
          <a:xfrm>
            <a:off x="-1860852" y="7735768"/>
            <a:ext cx="5102467" cy="5102467"/>
          </a:xfrm>
          <a:prstGeom prst="ellipse">
            <a:avLst/>
          </a:prstGeom>
          <a:solidFill>
            <a:srgbClr val="8ECA8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5" name="Google Shape;164;p9"/>
          <p:cNvSpPr/>
          <p:nvPr/>
        </p:nvSpPr>
        <p:spPr>
          <a:xfrm>
            <a:off x="690379" y="2091158"/>
            <a:ext cx="7015918" cy="7167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5" y="0"/>
                </a:moveTo>
                <a:lnTo>
                  <a:pt x="21295" y="0"/>
                </a:lnTo>
                <a:cubicBezTo>
                  <a:pt x="21376" y="0"/>
                  <a:pt x="21453" y="31"/>
                  <a:pt x="21511" y="88"/>
                </a:cubicBezTo>
                <a:cubicBezTo>
                  <a:pt x="21568" y="144"/>
                  <a:pt x="21600" y="220"/>
                  <a:pt x="21600" y="299"/>
                </a:cubicBezTo>
                <a:lnTo>
                  <a:pt x="21600" y="21301"/>
                </a:lnTo>
                <a:cubicBezTo>
                  <a:pt x="21600" y="21380"/>
                  <a:pt x="21568" y="21456"/>
                  <a:pt x="21511" y="21512"/>
                </a:cubicBezTo>
                <a:cubicBezTo>
                  <a:pt x="21453" y="21569"/>
                  <a:pt x="21376" y="21600"/>
                  <a:pt x="21295" y="21600"/>
                </a:cubicBezTo>
                <a:lnTo>
                  <a:pt x="305" y="21600"/>
                </a:lnTo>
                <a:cubicBezTo>
                  <a:pt x="224" y="21600"/>
                  <a:pt x="147" y="21569"/>
                  <a:pt x="89" y="21512"/>
                </a:cubicBezTo>
                <a:cubicBezTo>
                  <a:pt x="32" y="21456"/>
                  <a:pt x="0" y="21380"/>
                  <a:pt x="0" y="21301"/>
                </a:cubicBezTo>
                <a:lnTo>
                  <a:pt x="0" y="299"/>
                </a:lnTo>
                <a:cubicBezTo>
                  <a:pt x="0" y="220"/>
                  <a:pt x="32" y="144"/>
                  <a:pt x="89" y="88"/>
                </a:cubicBezTo>
                <a:cubicBezTo>
                  <a:pt x="147" y="31"/>
                  <a:pt x="224" y="0"/>
                  <a:pt x="305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6" name="Google Shape;165;p9"/>
          <p:cNvSpPr/>
          <p:nvPr/>
        </p:nvSpPr>
        <p:spPr>
          <a:xfrm>
            <a:off x="-1" y="9584448"/>
            <a:ext cx="2304402" cy="90735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7" name="Google Shape;166;p9"/>
          <p:cNvSpPr txBox="1"/>
          <p:nvPr/>
        </p:nvSpPr>
        <p:spPr>
          <a:xfrm>
            <a:off x="8991941" y="818953"/>
            <a:ext cx="8267359" cy="222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defRPr b="1" sz="7700">
                <a:solidFill>
                  <a:srgbClr val="8ECA85"/>
                </a:solidFill>
              </a:defRPr>
            </a:lvl1pPr>
          </a:lstStyle>
          <a:p>
            <a:pPr/>
            <a:r>
              <a:t>كلمة رئيس مجلس الإدارة والمؤسس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171;p10"/>
          <p:cNvSpPr/>
          <p:nvPr/>
        </p:nvSpPr>
        <p:spPr>
          <a:xfrm>
            <a:off x="7018728" y="1156656"/>
            <a:ext cx="3137978" cy="3"/>
          </a:xfrm>
          <a:prstGeom prst="line">
            <a:avLst/>
          </a:prstGeom>
          <a:ln w="38100"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0" name="Google Shape;172;p10"/>
          <p:cNvSpPr/>
          <p:nvPr/>
        </p:nvSpPr>
        <p:spPr>
          <a:xfrm>
            <a:off x="1028700" y="4073135"/>
            <a:ext cx="1224077" cy="122407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1" name="Google Shape;173;p10"/>
          <p:cNvSpPr/>
          <p:nvPr/>
        </p:nvSpPr>
        <p:spPr>
          <a:xfrm>
            <a:off x="6818734" y="7509795"/>
            <a:ext cx="1224079" cy="120112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2" name="Google Shape;174;p10"/>
          <p:cNvSpPr/>
          <p:nvPr/>
        </p:nvSpPr>
        <p:spPr>
          <a:xfrm>
            <a:off x="6903366" y="4189422"/>
            <a:ext cx="1224078" cy="110779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3" name="Google Shape;175;p10"/>
          <p:cNvSpPr/>
          <p:nvPr/>
        </p:nvSpPr>
        <p:spPr>
          <a:xfrm>
            <a:off x="1110311" y="7587226"/>
            <a:ext cx="1060853" cy="104626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4" name="Google Shape;176;p10"/>
          <p:cNvSpPr/>
          <p:nvPr/>
        </p:nvSpPr>
        <p:spPr>
          <a:xfrm>
            <a:off x="12645504" y="7537177"/>
            <a:ext cx="1094777" cy="114636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5" name="Google Shape;177;p10"/>
          <p:cNvSpPr/>
          <p:nvPr/>
        </p:nvSpPr>
        <p:spPr>
          <a:xfrm>
            <a:off x="12495207" y="4189422"/>
            <a:ext cx="1245075" cy="1134574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6" name="Google Shape;178;p10"/>
          <p:cNvSpPr txBox="1"/>
          <p:nvPr/>
        </p:nvSpPr>
        <p:spPr>
          <a:xfrm>
            <a:off x="11260159" y="1232857"/>
            <a:ext cx="5874669" cy="812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rtl="1">
              <a:defRPr b="1" sz="5200">
                <a:solidFill>
                  <a:srgbClr val="F4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خدماتنا</a:t>
            </a:r>
          </a:p>
        </p:txBody>
      </p:sp>
      <p:sp>
        <p:nvSpPr>
          <p:cNvPr id="237" name="Google Shape;179;p10"/>
          <p:cNvSpPr txBox="1"/>
          <p:nvPr/>
        </p:nvSpPr>
        <p:spPr>
          <a:xfrm>
            <a:off x="2727717" y="4188085"/>
            <a:ext cx="3423174" cy="427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defRPr b="1" sz="2600">
                <a:solidFill>
                  <a:srgbClr val="F4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تطبيق نظام ERP</a:t>
            </a:r>
          </a:p>
        </p:txBody>
      </p:sp>
      <p:sp>
        <p:nvSpPr>
          <p:cNvPr id="238" name="Google Shape;180;p10"/>
          <p:cNvSpPr txBox="1"/>
          <p:nvPr/>
        </p:nvSpPr>
        <p:spPr>
          <a:xfrm>
            <a:off x="8989590" y="7348817"/>
            <a:ext cx="2709138" cy="884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defRPr b="1" sz="2600">
                <a:solidFill>
                  <a:srgbClr val="F4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الاستضافة السحابية</a:t>
            </a:r>
          </a:p>
        </p:txBody>
      </p:sp>
      <p:sp>
        <p:nvSpPr>
          <p:cNvPr id="239" name="Google Shape;181;p10"/>
          <p:cNvSpPr txBox="1"/>
          <p:nvPr/>
        </p:nvSpPr>
        <p:spPr>
          <a:xfrm>
            <a:off x="2727717" y="7525666"/>
            <a:ext cx="3423174" cy="837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defRPr b="1" sz="2500">
                <a:solidFill>
                  <a:srgbClr val="F4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طبقة ذكاء الأعمال (Power BI)</a:t>
            </a:r>
          </a:p>
        </p:txBody>
      </p:sp>
      <p:sp>
        <p:nvSpPr>
          <p:cNvPr id="240" name="Google Shape;182;p10"/>
          <p:cNvSpPr txBox="1"/>
          <p:nvPr/>
        </p:nvSpPr>
        <p:spPr>
          <a:xfrm>
            <a:off x="13970967" y="7468789"/>
            <a:ext cx="3475733" cy="481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defRPr b="1" sz="2900">
                <a:solidFill>
                  <a:srgbClr val="F4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ترحيل البيانات</a:t>
            </a:r>
          </a:p>
        </p:txBody>
      </p:sp>
      <p:sp>
        <p:nvSpPr>
          <p:cNvPr id="241" name="Google Shape;183;p10"/>
          <p:cNvSpPr txBox="1"/>
          <p:nvPr/>
        </p:nvSpPr>
        <p:spPr>
          <a:xfrm>
            <a:off x="2486530" y="1632209"/>
            <a:ext cx="7670177" cy="344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lnSpc>
                <a:spcPct val="114285"/>
              </a:lnSpc>
              <a:defRPr sz="2100">
                <a:solidFill>
                  <a:srgbClr val="F4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</a:lstStyle>
          <a:p>
            <a:pPr/>
            <a:r>
              <a:t>نموذج تشغيل متكامل من التطبيق حتى التدريب والدعم.</a:t>
            </a:r>
          </a:p>
        </p:txBody>
      </p:sp>
      <p:sp>
        <p:nvSpPr>
          <p:cNvPr id="242" name="Google Shape;184;p10"/>
          <p:cNvSpPr txBox="1"/>
          <p:nvPr/>
        </p:nvSpPr>
        <p:spPr>
          <a:xfrm>
            <a:off x="2901308" y="5097888"/>
            <a:ext cx="3249584" cy="1216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lnSpc>
                <a:spcPct val="109090"/>
              </a:lnSpc>
              <a:defRPr sz="2200">
                <a:solidFill>
                  <a:srgbClr val="F4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</a:lstStyle>
          <a:p>
            <a:pPr/>
            <a:r>
              <a:t>نبني النظام ونفصّله على هيكل شركتك تماماً — لا نظام جاهز من على الرف.</a:t>
            </a:r>
          </a:p>
        </p:txBody>
      </p:sp>
      <p:sp>
        <p:nvSpPr>
          <p:cNvPr id="243" name="Google Shape;185;p10"/>
          <p:cNvSpPr txBox="1"/>
          <p:nvPr/>
        </p:nvSpPr>
        <p:spPr>
          <a:xfrm>
            <a:off x="8004216" y="8559034"/>
            <a:ext cx="3734327" cy="787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lnSpc>
                <a:spcPct val="109090"/>
              </a:lnSpc>
              <a:defRPr sz="2200">
                <a:solidFill>
                  <a:srgbClr val="F4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</a:lstStyle>
          <a:p>
            <a:pPr/>
            <a:r>
              <a:t>بياناتك على خادم آمن في السحابة — تصل إليها من أي جهاز وفي أي وقت.</a:t>
            </a:r>
          </a:p>
        </p:txBody>
      </p:sp>
      <p:sp>
        <p:nvSpPr>
          <p:cNvPr id="244" name="Google Shape;186;p10"/>
          <p:cNvSpPr txBox="1"/>
          <p:nvPr/>
        </p:nvSpPr>
        <p:spPr>
          <a:xfrm>
            <a:off x="2901308" y="8419672"/>
            <a:ext cx="3249584" cy="1645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lnSpc>
                <a:spcPct val="109090"/>
              </a:lnSpc>
              <a:defRPr sz="2200">
                <a:solidFill>
                  <a:srgbClr val="F4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</a:lstStyle>
          <a:p>
            <a:pPr/>
            <a:r>
              <a:t>مش مجرد تقارير — طبقة تحليلية حيّة مبنية على Microsoft Power BI، تتعمّق وتتنبّأ وتجاوب أسئلتك في لحظتها.</a:t>
            </a:r>
          </a:p>
        </p:txBody>
      </p:sp>
      <p:sp>
        <p:nvSpPr>
          <p:cNvPr id="245" name="Google Shape;187;p10"/>
          <p:cNvSpPr txBox="1"/>
          <p:nvPr/>
        </p:nvSpPr>
        <p:spPr>
          <a:xfrm>
            <a:off x="13612592" y="8572072"/>
            <a:ext cx="3834111" cy="787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lnSpc>
                <a:spcPct val="109090"/>
              </a:lnSpc>
              <a:defRPr sz="2200">
                <a:solidFill>
                  <a:srgbClr val="F4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</a:lstStyle>
          <a:p>
            <a:pPr/>
            <a:r>
              <a:t>ننقل بياناتك القديمة إلى النظام الجديد بأمان وبدون فقد.</a:t>
            </a:r>
          </a:p>
        </p:txBody>
      </p:sp>
      <p:sp>
        <p:nvSpPr>
          <p:cNvPr id="246" name="Google Shape;188;p10"/>
          <p:cNvSpPr txBox="1"/>
          <p:nvPr/>
        </p:nvSpPr>
        <p:spPr>
          <a:xfrm>
            <a:off x="13885242" y="4267808"/>
            <a:ext cx="3374057" cy="481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defRPr b="1" sz="2900">
                <a:solidFill>
                  <a:srgbClr val="F4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التدريب المؤسسي</a:t>
            </a:r>
          </a:p>
        </p:txBody>
      </p:sp>
      <p:sp>
        <p:nvSpPr>
          <p:cNvPr id="247" name="Google Shape;189;p10"/>
          <p:cNvSpPr txBox="1"/>
          <p:nvPr/>
        </p:nvSpPr>
        <p:spPr>
          <a:xfrm>
            <a:off x="14009718" y="5316261"/>
            <a:ext cx="3249584" cy="1216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lnSpc>
                <a:spcPct val="109090"/>
              </a:lnSpc>
              <a:defRPr sz="2200">
                <a:solidFill>
                  <a:srgbClr val="F4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</a:lstStyle>
          <a:p>
            <a:pPr/>
            <a:r>
              <a:t>دورات عملية مكثّفة لكل قسم عشان فريقك يتبنّى النظام من اليوم الأول، مش بعد شهور.</a:t>
            </a:r>
          </a:p>
        </p:txBody>
      </p:sp>
      <p:sp>
        <p:nvSpPr>
          <p:cNvPr id="248" name="Google Shape;190;p10"/>
          <p:cNvSpPr txBox="1"/>
          <p:nvPr/>
        </p:nvSpPr>
        <p:spPr>
          <a:xfrm>
            <a:off x="8289542" y="4189352"/>
            <a:ext cx="3449001" cy="989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defRPr b="1" sz="2900">
                <a:solidFill>
                  <a:srgbClr val="F4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الدعم والامتثال الضريبي</a:t>
            </a:r>
          </a:p>
        </p:txBody>
      </p:sp>
      <p:sp>
        <p:nvSpPr>
          <p:cNvPr id="249" name="Google Shape;191;p10"/>
          <p:cNvSpPr txBox="1"/>
          <p:nvPr/>
        </p:nvSpPr>
        <p:spPr>
          <a:xfrm>
            <a:off x="8488960" y="5162548"/>
            <a:ext cx="3249584" cy="1216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rtl="1">
              <a:lnSpc>
                <a:spcPct val="109090"/>
              </a:lnSpc>
              <a:defRPr sz="2200">
                <a:solidFill>
                  <a:srgbClr val="F4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</a:lstStyle>
          <a:p>
            <a:pPr/>
            <a:r>
              <a:t>دعم فني فوري وتحديثات دورية تضمن توافق نظامك مع القوانين المصرية أولاً بأول.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196;p1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2" name="Google Shape;197;p11"/>
          <p:cNvSpPr/>
          <p:nvPr/>
        </p:nvSpPr>
        <p:spPr>
          <a:xfrm>
            <a:off x="15087274" y="1028699"/>
            <a:ext cx="2172026" cy="85523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3" name="Google Shape;198;p11"/>
          <p:cNvSpPr/>
          <p:nvPr/>
        </p:nvSpPr>
        <p:spPr>
          <a:xfrm flipH="1" rot="10800000">
            <a:off x="-1339599" y="-589410"/>
            <a:ext cx="4736598" cy="288932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4" name="Google Shape;209;p11"/>
          <p:cNvSpPr txBox="1"/>
          <p:nvPr/>
        </p:nvSpPr>
        <p:spPr>
          <a:xfrm>
            <a:off x="5152654" y="386361"/>
            <a:ext cx="8853332" cy="937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rtl="1">
              <a:lnSpc>
                <a:spcPct val="140909"/>
              </a:lnSpc>
              <a:defRPr b="1" sz="6600">
                <a:solidFill>
                  <a:srgbClr val="FFFFFF"/>
                </a:solidFill>
              </a:defRPr>
            </a:lvl1pPr>
          </a:lstStyle>
          <a:p>
            <a:pPr/>
            <a:r>
              <a:t>منظومة متكاملة من ١٠ مكوّنات</a:t>
            </a:r>
          </a:p>
        </p:txBody>
      </p:sp>
      <p:sp>
        <p:nvSpPr>
          <p:cNvPr id="255" name="Google Shape;214;p11"/>
          <p:cNvSpPr txBox="1"/>
          <p:nvPr/>
        </p:nvSpPr>
        <p:spPr>
          <a:xfrm>
            <a:off x="14737018" y="4090379"/>
            <a:ext cx="2872538" cy="3178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rtl="1">
              <a:lnSpc>
                <a:spcPct val="134782"/>
              </a:lnSpc>
              <a:defRPr b="1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المنتجات — </a:t>
            </a:r>
            <a:r>
              <a:rPr b="0"/>
              <a:t>تعريف وإدارة كل ما تبنيه أو تبيعه: المواد الخام، الخدمات، والمنتجات النهائية، بمواصفات ووحدات قياس وأسعار </a:t>
            </a:r>
            <a:r>
              <a:t>كاملة.</a:t>
            </a:r>
          </a:p>
        </p:txBody>
      </p:sp>
      <p:sp>
        <p:nvSpPr>
          <p:cNvPr id="256" name="Google Shape;209;p11"/>
          <p:cNvSpPr txBox="1"/>
          <p:nvPr/>
        </p:nvSpPr>
        <p:spPr>
          <a:xfrm>
            <a:off x="5152654" y="1577456"/>
            <a:ext cx="8853332" cy="1353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rtl="1">
              <a:lnSpc>
                <a:spcPct val="140909"/>
              </a:lnSpc>
              <a:defRPr b="1" sz="4000">
                <a:solidFill>
                  <a:srgbClr val="FFFFFF"/>
                </a:solidFill>
              </a:defRPr>
            </a:lvl1pPr>
          </a:lstStyle>
          <a:p>
            <a:pPr/>
            <a:r>
              <a:t>كل قسم في شركتك له مكوّن مخصّص — متصل بالباقي في نظام واحد.</a:t>
            </a:r>
          </a:p>
        </p:txBody>
      </p:sp>
      <p:sp>
        <p:nvSpPr>
          <p:cNvPr id="257" name="Google Shape;214;p11"/>
          <p:cNvSpPr txBox="1"/>
          <p:nvPr/>
        </p:nvSpPr>
        <p:spPr>
          <a:xfrm>
            <a:off x="11058527" y="4090379"/>
            <a:ext cx="2872538" cy="3178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rtl="1">
              <a:lnSpc>
                <a:spcPct val="134782"/>
              </a:lnSpc>
              <a:defRPr b="1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مراقبة المخزون — </a:t>
            </a:r>
            <a:r>
              <a:rPr b="0"/>
              <a:t>مخزون متعدد المستودعات بمتابعة لحظية، تتبع بالدفعة والرقم التسلسلي، تحويلات وجرد، وحدود إعادة طلب تلقائية.</a:t>
            </a:r>
          </a:p>
        </p:txBody>
      </p:sp>
      <p:sp>
        <p:nvSpPr>
          <p:cNvPr id="258" name="Google Shape;214;p11"/>
          <p:cNvSpPr txBox="1"/>
          <p:nvPr/>
        </p:nvSpPr>
        <p:spPr>
          <a:xfrm>
            <a:off x="7354510" y="4090379"/>
            <a:ext cx="2872538" cy="3178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rtl="1">
              <a:lnSpc>
                <a:spcPct val="134782"/>
              </a:lnSpc>
              <a:defRPr b="1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التصنيع —</a:t>
            </a:r>
            <a:r>
              <a:rPr b="0"/>
              <a:t>إدارة أوامر التشغيل وقوائم المكوّنات (BOM)، ومتابعة استهلاك الخامات وتكلفة الإنتاج من المادة الخام حتى المنتج</a:t>
            </a:r>
            <a:r>
              <a:t> </a:t>
            </a:r>
            <a:r>
              <a:rPr b="0"/>
              <a:t>النهائي</a:t>
            </a:r>
            <a:r>
              <a:t>.</a:t>
            </a:r>
          </a:p>
        </p:txBody>
      </p:sp>
      <p:sp>
        <p:nvSpPr>
          <p:cNvPr id="259" name="Google Shape;214;p11"/>
          <p:cNvSpPr txBox="1"/>
          <p:nvPr/>
        </p:nvSpPr>
        <p:spPr>
          <a:xfrm>
            <a:off x="3650494" y="4127201"/>
            <a:ext cx="2872538" cy="2619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rtl="1">
              <a:lnSpc>
                <a:spcPct val="134782"/>
              </a:lnSpc>
              <a:defRPr b="1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الأطراف — </a:t>
            </a:r>
            <a:r>
              <a:rPr b="0"/>
              <a:t>دليل موحّد لكل من تتعامل معهم: الموظفون، العملاء، الموردون، المقاولون، والبنوك، بسجل تعاملات كامل لكل طرف</a:t>
            </a:r>
          </a:p>
        </p:txBody>
      </p:sp>
      <p:sp>
        <p:nvSpPr>
          <p:cNvPr id="260" name="Google Shape;214;p11"/>
          <p:cNvSpPr txBox="1"/>
          <p:nvPr/>
        </p:nvSpPr>
        <p:spPr>
          <a:xfrm>
            <a:off x="188429" y="4127201"/>
            <a:ext cx="2872538" cy="260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rtl="1">
              <a:lnSpc>
                <a:spcPct val="134782"/>
              </a:lnSpc>
              <a:defRPr b="1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الطلبات — </a:t>
            </a:r>
            <a:r>
              <a:rPr b="0"/>
              <a:t>إدارة مركزية لطلبات البيع والشراء، من الطلب مرورًا بالاعتماد وحتى التنفيذ، برؤية كاملة لحالة كل طلب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196;p1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3" name="Google Shape;197;p11"/>
          <p:cNvSpPr/>
          <p:nvPr/>
        </p:nvSpPr>
        <p:spPr>
          <a:xfrm>
            <a:off x="15087274" y="1028699"/>
            <a:ext cx="2172026" cy="85523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4" name="Google Shape;198;p11"/>
          <p:cNvSpPr/>
          <p:nvPr/>
        </p:nvSpPr>
        <p:spPr>
          <a:xfrm flipH="1" rot="10800000">
            <a:off x="-1339599" y="-589410"/>
            <a:ext cx="4736598" cy="288932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5" name="Google Shape;209;p11"/>
          <p:cNvSpPr txBox="1"/>
          <p:nvPr/>
        </p:nvSpPr>
        <p:spPr>
          <a:xfrm>
            <a:off x="5152654" y="386361"/>
            <a:ext cx="8853332" cy="937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rtl="1">
              <a:lnSpc>
                <a:spcPct val="140909"/>
              </a:lnSpc>
              <a:defRPr b="1" sz="6600">
                <a:solidFill>
                  <a:srgbClr val="FFFFFF"/>
                </a:solidFill>
              </a:defRPr>
            </a:lvl1pPr>
          </a:lstStyle>
          <a:p>
            <a:pPr/>
            <a:r>
              <a:t>منظومة متكاملة من ١٠ مكوّنات</a:t>
            </a:r>
          </a:p>
        </p:txBody>
      </p:sp>
      <p:sp>
        <p:nvSpPr>
          <p:cNvPr id="266" name="Google Shape;214;p11"/>
          <p:cNvSpPr txBox="1"/>
          <p:nvPr/>
        </p:nvSpPr>
        <p:spPr>
          <a:xfrm>
            <a:off x="14737018" y="4090379"/>
            <a:ext cx="2872538" cy="2619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rtl="1">
              <a:lnSpc>
                <a:spcPct val="134782"/>
              </a:lnSpc>
              <a:defRPr b="1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المشاريع — </a:t>
            </a:r>
            <a:r>
              <a:rPr b="0"/>
              <a:t>متابعة تقدّم كل مشروع وميزانيته ومراحله، وإصدار وتتبع المستخلصات وشهادات إنجاز الأعمال أولًا بأول</a:t>
            </a:r>
            <a:r>
              <a:t>.</a:t>
            </a:r>
          </a:p>
        </p:txBody>
      </p:sp>
      <p:sp>
        <p:nvSpPr>
          <p:cNvPr id="267" name="Google Shape;209;p11"/>
          <p:cNvSpPr txBox="1"/>
          <p:nvPr/>
        </p:nvSpPr>
        <p:spPr>
          <a:xfrm>
            <a:off x="5152654" y="1577456"/>
            <a:ext cx="8853332" cy="1353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rtl="1">
              <a:lnSpc>
                <a:spcPct val="140909"/>
              </a:lnSpc>
              <a:defRPr b="1" sz="4000">
                <a:solidFill>
                  <a:srgbClr val="FFFFFF"/>
                </a:solidFill>
              </a:defRPr>
            </a:lvl1pPr>
          </a:lstStyle>
          <a:p>
            <a:pPr/>
            <a:r>
              <a:t>كل قسم في شركتك له مكوّن مخصّص — متصل بالباقي في نظام واحد.</a:t>
            </a:r>
          </a:p>
        </p:txBody>
      </p:sp>
      <p:sp>
        <p:nvSpPr>
          <p:cNvPr id="268" name="Google Shape;214;p11"/>
          <p:cNvSpPr txBox="1"/>
          <p:nvPr/>
        </p:nvSpPr>
        <p:spPr>
          <a:xfrm>
            <a:off x="11058527" y="4090379"/>
            <a:ext cx="2872538" cy="2619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rtl="1">
              <a:lnSpc>
                <a:spcPct val="134782"/>
              </a:lnSpc>
              <a:defRPr b="1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مبيعات الوحدات العقارية — </a:t>
            </a:r>
            <a:r>
              <a:rPr b="0"/>
              <a:t>الحجز والعقود، جداول الأقساط التلقائية، واحتساب عمولات المبيعات بناءً على التحصيل الفعلي</a:t>
            </a:r>
          </a:p>
        </p:txBody>
      </p:sp>
      <p:sp>
        <p:nvSpPr>
          <p:cNvPr id="269" name="Google Shape;214;p11"/>
          <p:cNvSpPr txBox="1"/>
          <p:nvPr/>
        </p:nvSpPr>
        <p:spPr>
          <a:xfrm>
            <a:off x="7354510" y="4090379"/>
            <a:ext cx="2872538" cy="3178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rtl="1">
              <a:lnSpc>
                <a:spcPct val="134782"/>
              </a:lnSpc>
              <a:defRPr b="1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إدارة علاقات العملاء (CRM) —</a:t>
            </a:r>
            <a:r>
              <a:rPr b="0"/>
              <a:t>متابعة العملاء المحتملين والزيارات الميدانية وسجل التواصل، متكاملة بالكامل مع سجل المبيعات والتحصيل.</a:t>
            </a:r>
          </a:p>
        </p:txBody>
      </p:sp>
      <p:sp>
        <p:nvSpPr>
          <p:cNvPr id="270" name="Google Shape;214;p11"/>
          <p:cNvSpPr txBox="1"/>
          <p:nvPr/>
        </p:nvSpPr>
        <p:spPr>
          <a:xfrm>
            <a:off x="3650494" y="4127201"/>
            <a:ext cx="3303599" cy="3736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rtl="1">
              <a:lnSpc>
                <a:spcPct val="134782"/>
              </a:lnSpc>
              <a:defRPr b="1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الحسابات —</a:t>
            </a:r>
            <a:r>
              <a:rPr b="0"/>
              <a:t> إعداد شجرة الحسابات وتهيئتها، دفاتر أستاذ مساعدة لكل طرف ومشروع، فواتير بيع وشراء، مدفوعات واردة وصادرة، حدود وضمانات دفعات المقاولين، ومجموعة كاملة من التقارير المحاسبية.</a:t>
            </a:r>
          </a:p>
        </p:txBody>
      </p:sp>
      <p:sp>
        <p:nvSpPr>
          <p:cNvPr id="271" name="Google Shape;214;p11"/>
          <p:cNvSpPr txBox="1"/>
          <p:nvPr/>
        </p:nvSpPr>
        <p:spPr>
          <a:xfrm>
            <a:off x="188429" y="4127201"/>
            <a:ext cx="2872538" cy="2619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rtl="1">
              <a:lnSpc>
                <a:spcPct val="134782"/>
              </a:lnSpc>
              <a:defRPr b="1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t>الموارد البشرية —</a:t>
            </a:r>
            <a:r>
              <a:rPr b="0"/>
              <a:t>احتساب الرواتب والاستقطاعات، مرتبط مباشرة بأجهزة الحضور والانصراف البيومترية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4;p1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4" name="Google Shape;275;p1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5" name="Google Shape;276;p17"/>
          <p:cNvSpPr/>
          <p:nvPr/>
        </p:nvSpPr>
        <p:spPr>
          <a:xfrm>
            <a:off x="1000125" y="9472610"/>
            <a:ext cx="16287750" cy="45720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6" name="Google Shape;277;p17"/>
          <p:cNvSpPr txBox="1"/>
          <p:nvPr/>
        </p:nvSpPr>
        <p:spPr>
          <a:xfrm>
            <a:off x="3653313" y="2936081"/>
            <a:ext cx="10981374" cy="963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rtl="1">
              <a:lnSpc>
                <a:spcPct val="120688"/>
              </a:lnSpc>
              <a:defRPr b="1" sz="5800">
                <a:solidFill>
                  <a:srgbClr val="FFFFFF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defRPr>
            </a:lvl1pPr>
          </a:lstStyle>
          <a:p>
            <a:pPr/>
            <a:r>
              <a:t>شاهد النظام بنفسك</a:t>
            </a:r>
          </a:p>
        </p:txBody>
      </p:sp>
      <p:sp>
        <p:nvSpPr>
          <p:cNvPr id="277" name="Google Shape;278;p17"/>
          <p:cNvSpPr/>
          <p:nvPr/>
        </p:nvSpPr>
        <p:spPr>
          <a:xfrm>
            <a:off x="8429625" y="4764880"/>
            <a:ext cx="1428750" cy="85727"/>
          </a:xfrm>
          <a:prstGeom prst="rect">
            <a:avLst/>
          </a:prstGeom>
          <a:solidFill>
            <a:srgbClr val="8ED477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8" name="Google Shape;279;p17"/>
          <p:cNvSpPr txBox="1"/>
          <p:nvPr/>
        </p:nvSpPr>
        <p:spPr>
          <a:xfrm>
            <a:off x="3071810" y="5042694"/>
            <a:ext cx="12144378" cy="215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rtl="1">
              <a:lnSpc>
                <a:spcPct val="159090"/>
              </a:lnSpc>
              <a:defRPr sz="2200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pPr>
            <a:r>
              <a:t>اللقطات التالية من النظام الحقيقي وهو يعمل — واجهات فعلية بكامل وضوحها، من غير أي طمس أو إخفاء.</a:t>
            </a:r>
          </a:p>
          <a:p>
            <a:pPr algn="ctr" rtl="1">
              <a:lnSpc>
                <a:spcPct val="159090"/>
              </a:lnSpc>
              <a:defRPr sz="2200">
                <a:solidFill>
                  <a:srgbClr val="CBD5E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pPr>
            <a:r>
              <a:t>حفاظاً على خصوصية عملائنا، استبدلنا بياناتهم الحقيقية ببيانات وهمية على نسخة تجريبية — فالأسماء والأرقام الظاهرة كلها افتراضية، أما النظام فهو كما تراه بالضبط.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 0"/>
          <p:cNvSpPr txBox="1"/>
          <p:nvPr/>
        </p:nvSpPr>
        <p:spPr>
          <a:xfrm>
            <a:off x="763904" y="588607"/>
            <a:ext cx="16774669" cy="72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8DC63F"/>
                </a:solidFill>
              </a:defRPr>
            </a:lvl1pPr>
          </a:lstStyle>
          <a:p>
            <a:pPr/>
            <a:r>
              <a:t>منتَج واحد… أو وحدة سكنية كاملة</a:t>
            </a:r>
          </a:p>
        </p:txBody>
      </p:sp>
      <p:pic>
        <p:nvPicPr>
          <p:cNvPr id="28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8600" y="1645920"/>
            <a:ext cx="16609392" cy="7886701"/>
          </a:xfrm>
          <a:prstGeom prst="rect">
            <a:avLst/>
          </a:prstGeom>
          <a:ln w="12700">
            <a:miter lim="400000"/>
          </a:ln>
        </p:spPr>
      </p:pic>
      <p:sp>
        <p:nvSpPr>
          <p:cNvPr id="282" name="Shape 1"/>
          <p:cNvSpPr/>
          <p:nvPr/>
        </p:nvSpPr>
        <p:spPr>
          <a:xfrm>
            <a:off x="848600" y="8298180"/>
            <a:ext cx="16609392" cy="1234441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3" name="Text 2"/>
          <p:cNvSpPr txBox="1"/>
          <p:nvPr/>
        </p:nvSpPr>
        <p:spPr>
          <a:xfrm>
            <a:off x="1260080" y="8754870"/>
            <a:ext cx="15786432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1371600" rtl="1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نفس المكوّن اللي بيعرّف مواد المصنع… بيعرّف شقة بمشروعها وطابقها ومساحتها وسعرها وحالة بيعها.</a:t>
            </a:r>
          </a:p>
        </p:txBody>
      </p:sp>
      <p:sp>
        <p:nvSpPr>
          <p:cNvPr id="284" name="Text 3"/>
          <p:cNvSpPr txBox="1"/>
          <p:nvPr/>
        </p:nvSpPr>
        <p:spPr>
          <a:xfrm>
            <a:off x="763904" y="9709679"/>
            <a:ext cx="16774669" cy="35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1600">
                <a:solidFill>
                  <a:srgbClr val="9AA7BD"/>
                </a:solidFill>
              </a:defRPr>
            </a:lvl1pPr>
          </a:lstStyle>
          <a:p>
            <a:pPr/>
            <a:r>
              <a:t>المنتجات والأصناف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 0"/>
          <p:cNvSpPr txBox="1"/>
          <p:nvPr/>
        </p:nvSpPr>
        <p:spPr>
          <a:xfrm>
            <a:off x="763904" y="588607"/>
            <a:ext cx="16774669" cy="72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8DC63F"/>
                </a:solidFill>
              </a:defRPr>
            </a:lvl1pPr>
          </a:lstStyle>
          <a:p>
            <a:pPr/>
            <a:r>
              <a:t>كل طرف… بسجلّه الكامل</a:t>
            </a:r>
          </a:p>
        </p:txBody>
      </p:sp>
      <p:pic>
        <p:nvPicPr>
          <p:cNvPr id="28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43936" y="1645920"/>
            <a:ext cx="12618722" cy="7886701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Shape 1"/>
          <p:cNvSpPr/>
          <p:nvPr/>
        </p:nvSpPr>
        <p:spPr>
          <a:xfrm>
            <a:off x="2843936" y="8298180"/>
            <a:ext cx="12618721" cy="1234441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9" name="Text 2"/>
          <p:cNvSpPr txBox="1"/>
          <p:nvPr/>
        </p:nvSpPr>
        <p:spPr>
          <a:xfrm>
            <a:off x="3255416" y="8754870"/>
            <a:ext cx="11795762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1371600" rtl="1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مورّد، عميل، مقاول أو بنك — لكلٍّ ملف موحّد مربوط مباشرة بحسابه في الدفاتر، فكل تعامل بيتسجّل في مكانه الصح.</a:t>
            </a:r>
          </a:p>
        </p:txBody>
      </p:sp>
      <p:sp>
        <p:nvSpPr>
          <p:cNvPr id="290" name="Text 3"/>
          <p:cNvSpPr txBox="1"/>
          <p:nvPr/>
        </p:nvSpPr>
        <p:spPr>
          <a:xfrm>
            <a:off x="763904" y="9709679"/>
            <a:ext cx="16774669" cy="35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1600">
                <a:solidFill>
                  <a:srgbClr val="9AA7BD"/>
                </a:solidFill>
              </a:defRPr>
            </a:lvl1pPr>
          </a:lstStyle>
          <a:p>
            <a:pPr/>
            <a:r>
              <a:t>الأفراد والشركات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 0"/>
          <p:cNvSpPr txBox="1"/>
          <p:nvPr/>
        </p:nvSpPr>
        <p:spPr>
          <a:xfrm>
            <a:off x="763904" y="588607"/>
            <a:ext cx="16774669" cy="72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8DC63F"/>
                </a:solidFill>
              </a:defRPr>
            </a:lvl1pPr>
          </a:lstStyle>
          <a:p>
            <a:pPr/>
            <a:r>
              <a:t>عقود ومقدمات وأقساط… كله بضغطة</a:t>
            </a:r>
          </a:p>
        </p:txBody>
      </p:sp>
      <p:pic>
        <p:nvPicPr>
          <p:cNvPr id="29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7383" y="1705064"/>
            <a:ext cx="16911829" cy="7768412"/>
          </a:xfrm>
          <a:prstGeom prst="rect">
            <a:avLst/>
          </a:prstGeom>
          <a:ln w="12700">
            <a:miter lim="400000"/>
          </a:ln>
        </p:spPr>
      </p:pic>
      <p:sp>
        <p:nvSpPr>
          <p:cNvPr id="294" name="Shape 1"/>
          <p:cNvSpPr/>
          <p:nvPr/>
        </p:nvSpPr>
        <p:spPr>
          <a:xfrm>
            <a:off x="697382" y="8239035"/>
            <a:ext cx="16911830" cy="1234441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5" name="Text 2"/>
          <p:cNvSpPr txBox="1"/>
          <p:nvPr/>
        </p:nvSpPr>
        <p:spPr>
          <a:xfrm>
            <a:off x="1108862" y="8695725"/>
            <a:ext cx="16088869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1371600" rtl="1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تحدّد الوحدة والعميل والمقدّم والخصم وعدد الأقساط — والنظام يحسب الإجمالي ويبني جدول السداد لوحده.</a:t>
            </a:r>
          </a:p>
        </p:txBody>
      </p:sp>
      <p:sp>
        <p:nvSpPr>
          <p:cNvPr id="296" name="Text 3"/>
          <p:cNvSpPr txBox="1"/>
          <p:nvPr/>
        </p:nvSpPr>
        <p:spPr>
          <a:xfrm>
            <a:off x="763904" y="9709679"/>
            <a:ext cx="16774669" cy="35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1600">
                <a:solidFill>
                  <a:srgbClr val="9AA7BD"/>
                </a:solidFill>
              </a:defRPr>
            </a:lvl1pPr>
          </a:lstStyle>
          <a:p>
            <a:pPr/>
            <a:r>
              <a:t>عقود المبيعات والحجز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 0"/>
          <p:cNvSpPr txBox="1"/>
          <p:nvPr/>
        </p:nvSpPr>
        <p:spPr>
          <a:xfrm>
            <a:off x="763904" y="588607"/>
            <a:ext cx="16774669" cy="72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8DC63F"/>
                </a:solidFill>
              </a:defRPr>
            </a:lvl1pPr>
          </a:lstStyle>
          <a:p>
            <a:pPr/>
            <a:r>
              <a:t>جدول سداد دقيق… بالمليم</a:t>
            </a:r>
          </a:p>
        </p:txBody>
      </p:sp>
      <p:pic>
        <p:nvPicPr>
          <p:cNvPr id="29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9580" y="1645920"/>
            <a:ext cx="16467430" cy="7886701"/>
          </a:xfrm>
          <a:prstGeom prst="rect">
            <a:avLst/>
          </a:prstGeom>
          <a:ln w="12700">
            <a:miter lim="400000"/>
          </a:ln>
        </p:spPr>
      </p:pic>
      <p:sp>
        <p:nvSpPr>
          <p:cNvPr id="300" name="Shape 1"/>
          <p:cNvSpPr/>
          <p:nvPr/>
        </p:nvSpPr>
        <p:spPr>
          <a:xfrm>
            <a:off x="919580" y="1645920"/>
            <a:ext cx="16467430" cy="1234441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1" name="Text 2"/>
          <p:cNvSpPr txBox="1"/>
          <p:nvPr/>
        </p:nvSpPr>
        <p:spPr>
          <a:xfrm>
            <a:off x="1331060" y="2102610"/>
            <a:ext cx="15644471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1371600" rtl="1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النظام يولّد كل قسط بتاريخه وقيمته تلقائياً، مع تقريب ذكي وإضافة دفعات مقدّمة — من غير حسابات يدوية ولا أخطاء.</a:t>
            </a:r>
          </a:p>
        </p:txBody>
      </p:sp>
      <p:sp>
        <p:nvSpPr>
          <p:cNvPr id="302" name="Text 3"/>
          <p:cNvSpPr txBox="1"/>
          <p:nvPr/>
        </p:nvSpPr>
        <p:spPr>
          <a:xfrm>
            <a:off x="763904" y="9709679"/>
            <a:ext cx="16774669" cy="35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1600">
                <a:solidFill>
                  <a:srgbClr val="9AA7BD"/>
                </a:solidFill>
              </a:defRPr>
            </a:lvl1pPr>
          </a:lstStyle>
          <a:p>
            <a:pPr/>
            <a:r>
              <a:t>جدولة الأقساط والتحصيل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 txBox="1"/>
          <p:nvPr/>
        </p:nvSpPr>
        <p:spPr>
          <a:xfrm>
            <a:off x="763904" y="588607"/>
            <a:ext cx="16774669" cy="72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8DC63F"/>
                </a:solidFill>
              </a:defRPr>
            </a:lvl1pPr>
          </a:lstStyle>
          <a:p>
            <a:pPr/>
            <a:r>
              <a:t>مخزونك… لحظة بلحظة</a:t>
            </a:r>
          </a:p>
        </p:txBody>
      </p:sp>
      <p:pic>
        <p:nvPicPr>
          <p:cNvPr id="30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43936" y="1645920"/>
            <a:ext cx="12618722" cy="7886701"/>
          </a:xfrm>
          <a:prstGeom prst="rect">
            <a:avLst/>
          </a:prstGeom>
          <a:ln w="12700">
            <a:miter lim="400000"/>
          </a:ln>
        </p:spPr>
      </p:pic>
      <p:sp>
        <p:nvSpPr>
          <p:cNvPr id="306" name="Shape 1"/>
          <p:cNvSpPr/>
          <p:nvPr/>
        </p:nvSpPr>
        <p:spPr>
          <a:xfrm>
            <a:off x="2843936" y="8298180"/>
            <a:ext cx="12618721" cy="1234441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7" name="Text 2"/>
          <p:cNvSpPr txBox="1"/>
          <p:nvPr/>
        </p:nvSpPr>
        <p:spPr>
          <a:xfrm>
            <a:off x="3255416" y="8754870"/>
            <a:ext cx="11795762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1371600" rtl="1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الكمية المتوفرة والمتاحة للبيع والحد الأدنى لكل صنف عبر كل المخازن، مع تنبيه إعادة الطلب قبل ما تقع في عجز.</a:t>
            </a:r>
          </a:p>
        </p:txBody>
      </p:sp>
      <p:sp>
        <p:nvSpPr>
          <p:cNvPr id="308" name="Text 3"/>
          <p:cNvSpPr txBox="1"/>
          <p:nvPr/>
        </p:nvSpPr>
        <p:spPr>
          <a:xfrm>
            <a:off x="763904" y="9709679"/>
            <a:ext cx="16774669" cy="35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1600">
                <a:solidFill>
                  <a:srgbClr val="9AA7BD"/>
                </a:solidFill>
              </a:defRPr>
            </a:lvl1pPr>
          </a:lstStyle>
          <a:p>
            <a:pPr/>
            <a:r>
              <a:t>الرقابة على المخازن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0"/>
          <p:cNvSpPr txBox="1"/>
          <p:nvPr/>
        </p:nvSpPr>
        <p:spPr>
          <a:xfrm>
            <a:off x="763904" y="588607"/>
            <a:ext cx="16774669" cy="72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8DC63F"/>
                </a:solidFill>
              </a:defRPr>
            </a:lvl1pPr>
          </a:lstStyle>
          <a:p>
            <a:pPr/>
            <a:r>
              <a:t>من المادة الخام… للمنتج النهائي</a:t>
            </a:r>
          </a:p>
        </p:txBody>
      </p:sp>
      <p:pic>
        <p:nvPicPr>
          <p:cNvPr id="31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43936" y="1645920"/>
            <a:ext cx="12618722" cy="7886701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Shape 1"/>
          <p:cNvSpPr/>
          <p:nvPr/>
        </p:nvSpPr>
        <p:spPr>
          <a:xfrm>
            <a:off x="2843936" y="8298180"/>
            <a:ext cx="12618721" cy="1234441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3" name="Text 2"/>
          <p:cNvSpPr txBox="1"/>
          <p:nvPr/>
        </p:nvSpPr>
        <p:spPr>
          <a:xfrm>
            <a:off x="3255416" y="8754870"/>
            <a:ext cx="11795762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1371600" rtl="1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أمر تشغيل بكل مراحله — قص، فرز، خياطة، تشطيب — مع تتبّع الوقت الفعلي والكمية المنتَجة وتكلفة كل مرحلة.</a:t>
            </a:r>
          </a:p>
        </p:txBody>
      </p:sp>
      <p:sp>
        <p:nvSpPr>
          <p:cNvPr id="314" name="Text 3"/>
          <p:cNvSpPr txBox="1"/>
          <p:nvPr/>
        </p:nvSpPr>
        <p:spPr>
          <a:xfrm>
            <a:off x="763904" y="9709679"/>
            <a:ext cx="16774669" cy="35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1600">
                <a:solidFill>
                  <a:srgbClr val="9AA7BD"/>
                </a:solidFill>
              </a:defRPr>
            </a:lvl1pPr>
          </a:lstStyle>
          <a:p>
            <a:pPr/>
            <a:r>
              <a:t>التصنيع وأوامر التشغيل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 0"/>
          <p:cNvSpPr txBox="1"/>
          <p:nvPr/>
        </p:nvSpPr>
        <p:spPr>
          <a:xfrm>
            <a:off x="763904" y="588607"/>
            <a:ext cx="16774669" cy="72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8DC63F"/>
                </a:solidFill>
              </a:defRPr>
            </a:lvl1pPr>
          </a:lstStyle>
          <a:p>
            <a:pPr/>
            <a:r>
              <a:t>كل مشروع… بميزانيته ومراحله</a:t>
            </a:r>
          </a:p>
        </p:txBody>
      </p:sp>
      <p:pic>
        <p:nvPicPr>
          <p:cNvPr id="31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7751" y="1645920"/>
            <a:ext cx="16491091" cy="7886701"/>
          </a:xfrm>
          <a:prstGeom prst="rect">
            <a:avLst/>
          </a:prstGeom>
          <a:ln w="12700">
            <a:miter lim="400000"/>
          </a:ln>
        </p:spPr>
      </p:pic>
      <p:sp>
        <p:nvSpPr>
          <p:cNvPr id="318" name="Shape 1"/>
          <p:cNvSpPr/>
          <p:nvPr/>
        </p:nvSpPr>
        <p:spPr>
          <a:xfrm>
            <a:off x="907752" y="1645920"/>
            <a:ext cx="16491090" cy="1234441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9" name="Text 2"/>
          <p:cNvSpPr txBox="1"/>
          <p:nvPr/>
        </p:nvSpPr>
        <p:spPr>
          <a:xfrm>
            <a:off x="1319232" y="2102610"/>
            <a:ext cx="15668129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1371600" rtl="1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متابعة كل مشروع من البداية للنهاية، مع تصدير تقرير إيراداته ومصاريفه عن أي فترة بضغطة واحدة.</a:t>
            </a:r>
          </a:p>
        </p:txBody>
      </p:sp>
      <p:sp>
        <p:nvSpPr>
          <p:cNvPr id="320" name="Text 3"/>
          <p:cNvSpPr txBox="1"/>
          <p:nvPr/>
        </p:nvSpPr>
        <p:spPr>
          <a:xfrm>
            <a:off x="763904" y="9709679"/>
            <a:ext cx="16774669" cy="35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1600">
                <a:solidFill>
                  <a:srgbClr val="9AA7BD"/>
                </a:solidFill>
              </a:defRPr>
            </a:lvl1pPr>
          </a:lstStyle>
          <a:p>
            <a:pPr/>
            <a:r>
              <a:t>المشاريع والمستخلصات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 0"/>
          <p:cNvSpPr txBox="1"/>
          <p:nvPr/>
        </p:nvSpPr>
        <p:spPr>
          <a:xfrm>
            <a:off x="763904" y="588607"/>
            <a:ext cx="16774669" cy="72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8DC63F"/>
                </a:solidFill>
              </a:defRPr>
            </a:lvl1pPr>
          </a:lstStyle>
          <a:p>
            <a:pPr/>
            <a:r>
              <a:t>مستخلصات مقاولي الباطن… بدقة</a:t>
            </a:r>
          </a:p>
        </p:txBody>
      </p:sp>
      <p:pic>
        <p:nvPicPr>
          <p:cNvPr id="32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42631" y="1645920"/>
            <a:ext cx="15221332" cy="7886701"/>
          </a:xfrm>
          <a:prstGeom prst="rect">
            <a:avLst/>
          </a:prstGeom>
          <a:ln w="12700">
            <a:miter lim="400000"/>
          </a:ln>
        </p:spPr>
      </p:pic>
      <p:sp>
        <p:nvSpPr>
          <p:cNvPr id="324" name="Shape 1"/>
          <p:cNvSpPr/>
          <p:nvPr/>
        </p:nvSpPr>
        <p:spPr>
          <a:xfrm>
            <a:off x="1542631" y="8298180"/>
            <a:ext cx="15221332" cy="1234441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5" name="Text 2"/>
          <p:cNvSpPr txBox="1"/>
          <p:nvPr/>
        </p:nvSpPr>
        <p:spPr>
          <a:xfrm>
            <a:off x="1954111" y="8754870"/>
            <a:ext cx="14398372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1371600" rtl="1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تُصدر مستخلص كل مقاول ببنود أعماله وكمياتها وأسعارها، مربوطاً بالمشروع — ونسبة الإنجاز محسوبة تلقائياً.</a:t>
            </a:r>
          </a:p>
        </p:txBody>
      </p:sp>
      <p:sp>
        <p:nvSpPr>
          <p:cNvPr id="326" name="Text 3"/>
          <p:cNvSpPr txBox="1"/>
          <p:nvPr/>
        </p:nvSpPr>
        <p:spPr>
          <a:xfrm>
            <a:off x="763904" y="9709679"/>
            <a:ext cx="16774669" cy="35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1600">
                <a:solidFill>
                  <a:srgbClr val="9AA7BD"/>
                </a:solidFill>
              </a:defRPr>
            </a:lvl1pPr>
          </a:lstStyle>
          <a:p>
            <a:pPr/>
            <a:r>
              <a:t>مستخلصات مقاولي الباطن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 0"/>
          <p:cNvSpPr txBox="1"/>
          <p:nvPr/>
        </p:nvSpPr>
        <p:spPr>
          <a:xfrm>
            <a:off x="763904" y="588607"/>
            <a:ext cx="16774669" cy="72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8DC63F"/>
                </a:solidFill>
              </a:defRPr>
            </a:lvl1pPr>
          </a:lstStyle>
          <a:p>
            <a:pPr/>
            <a:r>
              <a:t>مستخلصات التوريد… بند ببند</a:t>
            </a:r>
          </a:p>
        </p:txBody>
      </p:sp>
      <p:sp>
        <p:nvSpPr>
          <p:cNvPr id="329" name="Shape 1"/>
          <p:cNvSpPr/>
          <p:nvPr/>
        </p:nvSpPr>
        <p:spPr>
          <a:xfrm>
            <a:off x="1542631" y="8298180"/>
            <a:ext cx="15221332" cy="1234441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0" name="Text 2"/>
          <p:cNvSpPr txBox="1"/>
          <p:nvPr/>
        </p:nvSpPr>
        <p:spPr>
          <a:xfrm>
            <a:off x="2766594" y="8754870"/>
            <a:ext cx="14398372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1371600" rtl="1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كل دفعة توريد بكمياتها وأسعارها ومخزن استلامها، مربوطة بأمر الشراء والمشروع — فمفيش توريد بيضيع.</a:t>
            </a:r>
          </a:p>
        </p:txBody>
      </p:sp>
      <p:sp>
        <p:nvSpPr>
          <p:cNvPr id="331" name="Text 3"/>
          <p:cNvSpPr txBox="1"/>
          <p:nvPr/>
        </p:nvSpPr>
        <p:spPr>
          <a:xfrm>
            <a:off x="763904" y="9709679"/>
            <a:ext cx="16774669" cy="35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1600">
                <a:solidFill>
                  <a:srgbClr val="9AA7BD"/>
                </a:solidFill>
              </a:defRPr>
            </a:lvl1pPr>
          </a:lstStyle>
          <a:p>
            <a:pPr/>
            <a:r>
              <a:t>مستخلصات التوريد ومواد البناء</a:t>
            </a:r>
          </a:p>
        </p:txBody>
      </p:sp>
      <p:pic>
        <p:nvPicPr>
          <p:cNvPr id="332" name="Screenshot 2026-06-23 at 2.27.07 PM.png" descr="Screenshot 2026-06-23 at 2.27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51432" y="1594509"/>
            <a:ext cx="15201901" cy="6654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 0"/>
          <p:cNvSpPr txBox="1"/>
          <p:nvPr/>
        </p:nvSpPr>
        <p:spPr>
          <a:xfrm>
            <a:off x="763904" y="588607"/>
            <a:ext cx="16774669" cy="72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8DC63F"/>
                </a:solidFill>
              </a:defRPr>
            </a:lvl1pPr>
          </a:lstStyle>
          <a:p>
            <a:pPr/>
            <a:r>
              <a:t>نسبة الإنجاز والخصومات… محسوبة</a:t>
            </a:r>
          </a:p>
        </p:txBody>
      </p:sp>
      <p:pic>
        <p:nvPicPr>
          <p:cNvPr id="33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27968" y="1645920"/>
            <a:ext cx="14850656" cy="7886701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Shape 1"/>
          <p:cNvSpPr/>
          <p:nvPr/>
        </p:nvSpPr>
        <p:spPr>
          <a:xfrm>
            <a:off x="1727968" y="1645920"/>
            <a:ext cx="14850656" cy="1234441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7" name="Text 2"/>
          <p:cNvSpPr txBox="1"/>
          <p:nvPr/>
        </p:nvSpPr>
        <p:spPr>
          <a:xfrm>
            <a:off x="2139448" y="2102610"/>
            <a:ext cx="14027697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1371600" rtl="1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النظام يحسب المستحق من نسبة الإنجاز، ويطبّق التأمين والخصومات تلقائياً للوصول للصافي — من غير أخطاء يدوية.</a:t>
            </a:r>
          </a:p>
        </p:txBody>
      </p:sp>
      <p:sp>
        <p:nvSpPr>
          <p:cNvPr id="338" name="Text 3"/>
          <p:cNvSpPr txBox="1"/>
          <p:nvPr/>
        </p:nvSpPr>
        <p:spPr>
          <a:xfrm>
            <a:off x="763904" y="9709679"/>
            <a:ext cx="16774669" cy="35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1600">
                <a:solidFill>
                  <a:srgbClr val="9AA7BD"/>
                </a:solidFill>
              </a:defRPr>
            </a:lvl1pPr>
          </a:lstStyle>
          <a:p>
            <a:pPr/>
            <a:r>
              <a:t>احتساب الأعمال والخصومات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 0"/>
          <p:cNvSpPr txBox="1"/>
          <p:nvPr/>
        </p:nvSpPr>
        <p:spPr>
          <a:xfrm>
            <a:off x="763904" y="588607"/>
            <a:ext cx="16774669" cy="72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8DC63F"/>
                </a:solidFill>
              </a:defRPr>
            </a:lvl1pPr>
          </a:lstStyle>
          <a:p>
            <a:pPr/>
            <a:r>
              <a:t>شجرة حسابات… مبنية صح</a:t>
            </a:r>
          </a:p>
        </p:txBody>
      </p:sp>
      <p:pic>
        <p:nvPicPr>
          <p:cNvPr id="34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88841" y="1645920"/>
            <a:ext cx="15528912" cy="7886701"/>
          </a:xfrm>
          <a:prstGeom prst="rect">
            <a:avLst/>
          </a:prstGeom>
          <a:ln w="12700">
            <a:miter lim="400000"/>
          </a:ln>
        </p:spPr>
      </p:pic>
      <p:sp>
        <p:nvSpPr>
          <p:cNvPr id="342" name="Shape 1"/>
          <p:cNvSpPr/>
          <p:nvPr/>
        </p:nvSpPr>
        <p:spPr>
          <a:xfrm>
            <a:off x="1388841" y="8298180"/>
            <a:ext cx="15528911" cy="1234441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3" name="Text 2"/>
          <p:cNvSpPr txBox="1"/>
          <p:nvPr/>
        </p:nvSpPr>
        <p:spPr>
          <a:xfrm>
            <a:off x="1800320" y="8754870"/>
            <a:ext cx="14705953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1371600" rtl="1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تأسيس الدليل المحاسبي وتصنيف الأصول والخصوم بشكل منظّم — الأساس اللي بيخلّي كل أرقامك موثوقة.</a:t>
            </a:r>
          </a:p>
        </p:txBody>
      </p:sp>
      <p:sp>
        <p:nvSpPr>
          <p:cNvPr id="344" name="Text 3"/>
          <p:cNvSpPr txBox="1"/>
          <p:nvPr/>
        </p:nvSpPr>
        <p:spPr>
          <a:xfrm>
            <a:off x="763904" y="9709679"/>
            <a:ext cx="16774669" cy="35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1600">
                <a:solidFill>
                  <a:srgbClr val="9AA7BD"/>
                </a:solidFill>
              </a:defRPr>
            </a:lvl1pPr>
          </a:lstStyle>
          <a:p>
            <a:pPr/>
            <a:r>
              <a:t>تأسيس الحسابات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 0"/>
          <p:cNvSpPr txBox="1"/>
          <p:nvPr/>
        </p:nvSpPr>
        <p:spPr>
          <a:xfrm>
            <a:off x="763904" y="588607"/>
            <a:ext cx="16774669" cy="72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8DC63F"/>
                </a:solidFill>
              </a:defRPr>
            </a:lvl1pPr>
          </a:lstStyle>
          <a:p>
            <a:pPr/>
            <a:r>
              <a:t>كل فاتورة… في مكانها</a:t>
            </a:r>
          </a:p>
        </p:txBody>
      </p:sp>
      <p:pic>
        <p:nvPicPr>
          <p:cNvPr id="34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9558" y="1645920"/>
            <a:ext cx="15907475" cy="7886701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Shape 1"/>
          <p:cNvSpPr/>
          <p:nvPr/>
        </p:nvSpPr>
        <p:spPr>
          <a:xfrm>
            <a:off x="1199559" y="8298180"/>
            <a:ext cx="15907475" cy="1234441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9" name="Text 2"/>
          <p:cNvSpPr txBox="1"/>
          <p:nvPr/>
        </p:nvSpPr>
        <p:spPr>
          <a:xfrm>
            <a:off x="1611039" y="8754870"/>
            <a:ext cx="15084516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1371600" rtl="1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فواتير البيع والشراء بحالتها ومبلغها وطرفها — رؤية كاملة لكل حركة، من غير ما تدوّر في ورق.</a:t>
            </a:r>
          </a:p>
        </p:txBody>
      </p:sp>
      <p:sp>
        <p:nvSpPr>
          <p:cNvPr id="350" name="Text 3"/>
          <p:cNvSpPr txBox="1"/>
          <p:nvPr/>
        </p:nvSpPr>
        <p:spPr>
          <a:xfrm>
            <a:off x="763904" y="9709679"/>
            <a:ext cx="16774669" cy="35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1600">
                <a:solidFill>
                  <a:srgbClr val="9AA7BD"/>
                </a:solidFill>
              </a:defRPr>
            </a:lvl1pPr>
          </a:lstStyle>
          <a:p>
            <a:pPr/>
            <a:r>
              <a:t>فواتير المشتريات والمدفوعات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 0"/>
          <p:cNvSpPr txBox="1"/>
          <p:nvPr/>
        </p:nvSpPr>
        <p:spPr>
          <a:xfrm>
            <a:off x="763904" y="588607"/>
            <a:ext cx="16774669" cy="72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8DC63F"/>
                </a:solidFill>
              </a:defRPr>
            </a:lvl1pPr>
          </a:lstStyle>
          <a:p>
            <a:pPr/>
            <a:r>
              <a:t>فلوس داخلة… متتبّعة بالكامل</a:t>
            </a:r>
          </a:p>
        </p:txBody>
      </p:sp>
      <p:pic>
        <p:nvPicPr>
          <p:cNvPr id="35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7445" y="1645920"/>
            <a:ext cx="15891703" cy="7886701"/>
          </a:xfrm>
          <a:prstGeom prst="rect">
            <a:avLst/>
          </a:prstGeom>
          <a:ln w="12700">
            <a:miter lim="400000"/>
          </a:ln>
        </p:spPr>
      </p:pic>
      <p:sp>
        <p:nvSpPr>
          <p:cNvPr id="354" name="Shape 1"/>
          <p:cNvSpPr/>
          <p:nvPr/>
        </p:nvSpPr>
        <p:spPr>
          <a:xfrm>
            <a:off x="1207445" y="8298180"/>
            <a:ext cx="15891703" cy="1234441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5" name="Text 2"/>
          <p:cNvSpPr txBox="1"/>
          <p:nvPr/>
        </p:nvSpPr>
        <p:spPr>
          <a:xfrm>
            <a:off x="1618925" y="8754870"/>
            <a:ext cx="15068742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1371600" rtl="1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كل دفعة واردة بتاريخها وطريقتها وطرفها وحالتها — تعرف مين دفع، إمتى، وبكام، في ثانية.</a:t>
            </a:r>
          </a:p>
        </p:txBody>
      </p:sp>
      <p:sp>
        <p:nvSpPr>
          <p:cNvPr id="356" name="Text 3"/>
          <p:cNvSpPr txBox="1"/>
          <p:nvPr/>
        </p:nvSpPr>
        <p:spPr>
          <a:xfrm>
            <a:off x="763904" y="9709679"/>
            <a:ext cx="16774669" cy="35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1600">
                <a:solidFill>
                  <a:srgbClr val="9AA7BD"/>
                </a:solidFill>
              </a:defRPr>
            </a:lvl1pPr>
          </a:lstStyle>
          <a:p>
            <a:pPr/>
            <a:r>
              <a:t>المدفوعات الواردة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 0"/>
          <p:cNvSpPr txBox="1"/>
          <p:nvPr/>
        </p:nvSpPr>
        <p:spPr>
          <a:xfrm>
            <a:off x="763904" y="588607"/>
            <a:ext cx="16774669" cy="72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8DC63F"/>
                </a:solidFill>
              </a:defRPr>
            </a:lvl1pPr>
          </a:lstStyle>
          <a:p>
            <a:pPr/>
            <a:r>
              <a:t>فلوس خارجة… تحت السيطرة</a:t>
            </a:r>
          </a:p>
        </p:txBody>
      </p:sp>
      <p:pic>
        <p:nvPicPr>
          <p:cNvPr id="35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8296" y="1645920"/>
            <a:ext cx="16010002" cy="7886701"/>
          </a:xfrm>
          <a:prstGeom prst="rect">
            <a:avLst/>
          </a:prstGeom>
          <a:ln w="12700">
            <a:miter lim="400000"/>
          </a:ln>
        </p:spPr>
      </p:pic>
      <p:sp>
        <p:nvSpPr>
          <p:cNvPr id="360" name="Shape 1"/>
          <p:cNvSpPr/>
          <p:nvPr/>
        </p:nvSpPr>
        <p:spPr>
          <a:xfrm>
            <a:off x="1148296" y="8298180"/>
            <a:ext cx="16010002" cy="1234441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1" name="Text 2"/>
          <p:cNvSpPr txBox="1"/>
          <p:nvPr/>
        </p:nvSpPr>
        <p:spPr>
          <a:xfrm>
            <a:off x="1559777" y="8754870"/>
            <a:ext cx="15187040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1371600" rtl="1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المدفوعات الصادرة موجّهة بمسارات اعتماد واضحة، فكل صرف بيمرّ صح وبيتسجّل في حسابه فوراً.</a:t>
            </a:r>
          </a:p>
        </p:txBody>
      </p:sp>
      <p:sp>
        <p:nvSpPr>
          <p:cNvPr id="362" name="Text 3"/>
          <p:cNvSpPr txBox="1"/>
          <p:nvPr/>
        </p:nvSpPr>
        <p:spPr>
          <a:xfrm>
            <a:off x="763904" y="9709679"/>
            <a:ext cx="16774669" cy="35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1600">
                <a:solidFill>
                  <a:srgbClr val="9AA7BD"/>
                </a:solidFill>
              </a:defRPr>
            </a:lvl1pPr>
          </a:lstStyle>
          <a:p>
            <a:pPr/>
            <a:r>
              <a:t>المدفوعات الصادرة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 0"/>
          <p:cNvSpPr txBox="1"/>
          <p:nvPr/>
        </p:nvSpPr>
        <p:spPr>
          <a:xfrm>
            <a:off x="763904" y="588607"/>
            <a:ext cx="16774669" cy="72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8DC63F"/>
                </a:solidFill>
              </a:defRPr>
            </a:lvl1pPr>
          </a:lstStyle>
          <a:p>
            <a:pPr/>
            <a:r>
              <a:t>دفعات المقاولين… بحدود وضمانات</a:t>
            </a:r>
          </a:p>
        </p:txBody>
      </p:sp>
      <p:pic>
        <p:nvPicPr>
          <p:cNvPr id="36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7383" y="3353438"/>
            <a:ext cx="16911829" cy="4471663"/>
          </a:xfrm>
          <a:prstGeom prst="rect">
            <a:avLst/>
          </a:prstGeom>
          <a:ln w="12700">
            <a:miter lim="400000"/>
          </a:ln>
        </p:spPr>
      </p:pic>
      <p:sp>
        <p:nvSpPr>
          <p:cNvPr id="366" name="Shape 1"/>
          <p:cNvSpPr/>
          <p:nvPr/>
        </p:nvSpPr>
        <p:spPr>
          <a:xfrm>
            <a:off x="697382" y="6590661"/>
            <a:ext cx="16911830" cy="1234441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7" name="Text 2"/>
          <p:cNvSpPr txBox="1"/>
          <p:nvPr/>
        </p:nvSpPr>
        <p:spPr>
          <a:xfrm>
            <a:off x="1108862" y="7047351"/>
            <a:ext cx="16088869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1371600" rtl="1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النظام بيراقب رصيد كل مقاول وحدود الصرف والضمانات — فمفيش دفعة بتعدّي المتفق عليه.</a:t>
            </a:r>
          </a:p>
        </p:txBody>
      </p:sp>
      <p:sp>
        <p:nvSpPr>
          <p:cNvPr id="368" name="Text 3"/>
          <p:cNvSpPr txBox="1"/>
          <p:nvPr/>
        </p:nvSpPr>
        <p:spPr>
          <a:xfrm>
            <a:off x="763904" y="9709679"/>
            <a:ext cx="16774669" cy="35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1600">
                <a:solidFill>
                  <a:srgbClr val="9AA7BD"/>
                </a:solidFill>
              </a:defRPr>
            </a:lvl1pPr>
          </a:lstStyle>
          <a:p>
            <a:pPr/>
            <a:r>
              <a:t>حوكمة المقاولين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 0"/>
          <p:cNvSpPr txBox="1"/>
          <p:nvPr/>
        </p:nvSpPr>
        <p:spPr>
          <a:xfrm>
            <a:off x="763904" y="588607"/>
            <a:ext cx="16774669" cy="72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8DC63F"/>
                </a:solidFill>
              </a:defRPr>
            </a:lvl1pPr>
          </a:lstStyle>
          <a:p>
            <a:pPr/>
            <a:r>
              <a:t>كل مستحَق… في وقته</a:t>
            </a:r>
          </a:p>
        </p:txBody>
      </p:sp>
      <p:pic>
        <p:nvPicPr>
          <p:cNvPr id="37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57293" y="1645920"/>
            <a:ext cx="15592007" cy="7886701"/>
          </a:xfrm>
          <a:prstGeom prst="rect">
            <a:avLst/>
          </a:prstGeom>
          <a:ln w="12700">
            <a:miter lim="400000"/>
          </a:ln>
        </p:spPr>
      </p:pic>
      <p:sp>
        <p:nvSpPr>
          <p:cNvPr id="372" name="Shape 1"/>
          <p:cNvSpPr/>
          <p:nvPr/>
        </p:nvSpPr>
        <p:spPr>
          <a:xfrm>
            <a:off x="1357293" y="8298180"/>
            <a:ext cx="15592007" cy="1234441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3" name="Text 2"/>
          <p:cNvSpPr txBox="1"/>
          <p:nvPr/>
        </p:nvSpPr>
        <p:spPr>
          <a:xfrm>
            <a:off x="1768773" y="8754870"/>
            <a:ext cx="14769046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1371600" rtl="1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حالة كل دفعة عبر الزمن — مستحق، متأخر، أو خلال المدة — فبتعرف تحصّل وتدفع في التوقيت الصح.</a:t>
            </a:r>
          </a:p>
        </p:txBody>
      </p:sp>
      <p:sp>
        <p:nvSpPr>
          <p:cNvPr id="374" name="Text 3"/>
          <p:cNvSpPr txBox="1"/>
          <p:nvPr/>
        </p:nvSpPr>
        <p:spPr>
          <a:xfrm>
            <a:off x="763904" y="9709679"/>
            <a:ext cx="16774669" cy="35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1600">
                <a:solidFill>
                  <a:srgbClr val="9AA7BD"/>
                </a:solidFill>
              </a:defRPr>
            </a:lvl1pPr>
          </a:lstStyle>
          <a:p>
            <a:pPr/>
            <a:r>
              <a:t>متابعة المستحقات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0"/>
          <p:cNvSpPr txBox="1"/>
          <p:nvPr/>
        </p:nvSpPr>
        <p:spPr>
          <a:xfrm>
            <a:off x="763904" y="588607"/>
            <a:ext cx="16774669" cy="72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8DC63F"/>
                </a:solidFill>
              </a:defRPr>
            </a:lvl1pPr>
          </a:lstStyle>
          <a:p>
            <a:pPr/>
            <a:r>
              <a:t>رواتب… مربوطة بالبصمة</a:t>
            </a:r>
          </a:p>
        </p:txBody>
      </p:sp>
      <p:pic>
        <p:nvPicPr>
          <p:cNvPr id="37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85201" y="1645920"/>
            <a:ext cx="16136190" cy="7886701"/>
          </a:xfrm>
          <a:prstGeom prst="rect">
            <a:avLst/>
          </a:prstGeom>
          <a:ln w="12700">
            <a:miter lim="400000"/>
          </a:ln>
        </p:spPr>
      </p:pic>
      <p:sp>
        <p:nvSpPr>
          <p:cNvPr id="378" name="Shape 1"/>
          <p:cNvSpPr/>
          <p:nvPr/>
        </p:nvSpPr>
        <p:spPr>
          <a:xfrm>
            <a:off x="1085202" y="8298180"/>
            <a:ext cx="16136189" cy="1234441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9" name="Text 2"/>
          <p:cNvSpPr txBox="1"/>
          <p:nvPr/>
        </p:nvSpPr>
        <p:spPr>
          <a:xfrm>
            <a:off x="1496681" y="8754870"/>
            <a:ext cx="15313231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1371600" rtl="1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احتساب الرواتب والاستقطاعات والإضافي والسلف لكل موظف، مربوط مباشرة بأجهزة الحضور البيومترية.</a:t>
            </a:r>
          </a:p>
        </p:txBody>
      </p:sp>
      <p:sp>
        <p:nvSpPr>
          <p:cNvPr id="380" name="Text 3"/>
          <p:cNvSpPr txBox="1"/>
          <p:nvPr/>
        </p:nvSpPr>
        <p:spPr>
          <a:xfrm>
            <a:off x="763904" y="9709679"/>
            <a:ext cx="16774669" cy="35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1600">
                <a:solidFill>
                  <a:srgbClr val="9AA7BD"/>
                </a:solidFill>
              </a:defRPr>
            </a:lvl1pPr>
          </a:lstStyle>
          <a:p>
            <a:pPr/>
            <a:r>
              <a:t>الموارد البشرية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 0"/>
          <p:cNvSpPr txBox="1"/>
          <p:nvPr/>
        </p:nvSpPr>
        <p:spPr>
          <a:xfrm>
            <a:off x="763904" y="588607"/>
            <a:ext cx="16774669" cy="72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200">
                <a:solidFill>
                  <a:srgbClr val="8DC63F"/>
                </a:solidFill>
              </a:defRPr>
            </a:lvl1pPr>
          </a:lstStyle>
          <a:p>
            <a:pPr/>
            <a:r>
              <a:t>عميل محتمل… تتبّعه خطوة بخطوة</a:t>
            </a:r>
          </a:p>
        </p:txBody>
      </p:sp>
      <p:pic>
        <p:nvPicPr>
          <p:cNvPr id="38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1170" y="1645920"/>
            <a:ext cx="13904253" cy="7886701"/>
          </a:xfrm>
          <a:prstGeom prst="rect">
            <a:avLst/>
          </a:prstGeom>
          <a:ln w="12700">
            <a:miter lim="400000"/>
          </a:ln>
        </p:spPr>
      </p:pic>
      <p:sp>
        <p:nvSpPr>
          <p:cNvPr id="384" name="Shape 1"/>
          <p:cNvSpPr/>
          <p:nvPr/>
        </p:nvSpPr>
        <p:spPr>
          <a:xfrm>
            <a:off x="2201170" y="1645920"/>
            <a:ext cx="13904253" cy="1234441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5" name="Text 2"/>
          <p:cNvSpPr txBox="1"/>
          <p:nvPr/>
        </p:nvSpPr>
        <p:spPr>
          <a:xfrm>
            <a:off x="2612651" y="2102610"/>
            <a:ext cx="13081291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1371600" rtl="1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لوحة فرص البيع من أول عميل محتمل حتى صفقة مكتسبة، مع تسجيل كل إجراء — متابعة، اجتماع، زيارة موقع، أو حجز.</a:t>
            </a:r>
          </a:p>
        </p:txBody>
      </p:sp>
      <p:sp>
        <p:nvSpPr>
          <p:cNvPr id="386" name="Text 3"/>
          <p:cNvSpPr txBox="1"/>
          <p:nvPr/>
        </p:nvSpPr>
        <p:spPr>
          <a:xfrm>
            <a:off x="763904" y="9709679"/>
            <a:ext cx="16774669" cy="359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1600">
                <a:solidFill>
                  <a:srgbClr val="9AA7BD"/>
                </a:solidFill>
              </a:defRPr>
            </a:lvl1pPr>
          </a:lstStyle>
          <a:p>
            <a:pPr/>
            <a:r>
              <a:t>إدارة علاقات العملاء (CRM)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ext 0"/>
          <p:cNvSpPr txBox="1"/>
          <p:nvPr/>
        </p:nvSpPr>
        <p:spPr>
          <a:xfrm>
            <a:off x="901065" y="1063240"/>
            <a:ext cx="16500349" cy="753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400">
                <a:solidFill>
                  <a:srgbClr val="FFFFFF"/>
                </a:solidFill>
              </a:defRPr>
            </a:lvl1pPr>
          </a:lstStyle>
          <a:p>
            <a:pPr/>
            <a:r>
              <a:t>مش بس بياناتك منظّمة… بياناتك جاهزة للذكاء الاصطناعي</a:t>
            </a:r>
          </a:p>
        </p:txBody>
      </p:sp>
      <p:sp>
        <p:nvSpPr>
          <p:cNvPr id="389" name="Text 1"/>
          <p:cNvSpPr txBox="1"/>
          <p:nvPr/>
        </p:nvSpPr>
        <p:spPr>
          <a:xfrm>
            <a:off x="901065" y="2433225"/>
            <a:ext cx="16500349" cy="482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2400">
                <a:solidFill>
                  <a:srgbClr val="A9D18E"/>
                </a:solidFill>
              </a:defRPr>
            </a:lvl1pPr>
          </a:lstStyle>
          <a:p>
            <a:pPr/>
            <a:r>
              <a:t>لأن حلّنا مبني على Microsoft Power BI — منصّة التحليلات نفسها اللي بتشغّل أدوات الذكاء الاصطناعي من مايكروسوفت.</a:t>
            </a:r>
          </a:p>
        </p:txBody>
      </p:sp>
      <p:sp>
        <p:nvSpPr>
          <p:cNvPr id="390" name="Shape 2"/>
          <p:cNvSpPr/>
          <p:nvPr/>
        </p:nvSpPr>
        <p:spPr>
          <a:xfrm>
            <a:off x="16194403" y="3977640"/>
            <a:ext cx="685801" cy="685801"/>
          </a:xfrm>
          <a:prstGeom prst="ellipse">
            <a:avLst/>
          </a:prstGeom>
          <a:solidFill>
            <a:srgbClr val="8DC63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1" name="Text 3"/>
          <p:cNvSpPr txBox="1"/>
          <p:nvPr/>
        </p:nvSpPr>
        <p:spPr>
          <a:xfrm>
            <a:off x="12011025" y="4076581"/>
            <a:ext cx="3909061" cy="556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3000">
                <a:solidFill>
                  <a:srgbClr val="8DC63F"/>
                </a:solidFill>
              </a:defRPr>
            </a:lvl1pPr>
          </a:lstStyle>
          <a:p>
            <a:pPr/>
            <a:r>
              <a:t>اسأل بلغتك</a:t>
            </a:r>
          </a:p>
        </p:txBody>
      </p:sp>
      <p:sp>
        <p:nvSpPr>
          <p:cNvPr id="392" name="Text 4"/>
          <p:cNvSpPr txBox="1"/>
          <p:nvPr/>
        </p:nvSpPr>
        <p:spPr>
          <a:xfrm>
            <a:off x="12011025" y="5608724"/>
            <a:ext cx="4937760" cy="85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lnSpc>
                <a:spcPct val="120000"/>
              </a:lnSpc>
              <a:defRPr sz="2200">
                <a:solidFill>
                  <a:srgbClr val="FFFFFF"/>
                </a:solidFill>
              </a:defRPr>
            </a:lvl1pPr>
          </a:lstStyle>
          <a:p>
            <a:pPr/>
            <a:r>
              <a:t>اكتب سؤالك — «مبيعات أكتوبر كام؟» — وهو يجاوبك برسم بياني فوراً، من غير ما تبني تقرير.</a:t>
            </a:r>
          </a:p>
        </p:txBody>
      </p:sp>
      <p:sp>
        <p:nvSpPr>
          <p:cNvPr id="393" name="Shape 5"/>
          <p:cNvSpPr/>
          <p:nvPr/>
        </p:nvSpPr>
        <p:spPr>
          <a:xfrm>
            <a:off x="10845164" y="3977640"/>
            <a:ext cx="685801" cy="685801"/>
          </a:xfrm>
          <a:prstGeom prst="ellipse">
            <a:avLst/>
          </a:prstGeom>
          <a:solidFill>
            <a:srgbClr val="8DC63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4" name="Text 6"/>
          <p:cNvSpPr txBox="1"/>
          <p:nvPr/>
        </p:nvSpPr>
        <p:spPr>
          <a:xfrm>
            <a:off x="6661785" y="4076581"/>
            <a:ext cx="3909061" cy="556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3000">
                <a:solidFill>
                  <a:srgbClr val="8DC63F"/>
                </a:solidFill>
              </a:defRPr>
            </a:lvl1pPr>
          </a:lstStyle>
          <a:p>
            <a:pPr/>
            <a:r>
              <a:t>استشرف المستقبل</a:t>
            </a:r>
          </a:p>
        </p:txBody>
      </p:sp>
      <p:sp>
        <p:nvSpPr>
          <p:cNvPr id="395" name="Text 7"/>
          <p:cNvSpPr txBox="1"/>
          <p:nvPr/>
        </p:nvSpPr>
        <p:spPr>
          <a:xfrm>
            <a:off x="6661785" y="5608724"/>
            <a:ext cx="4937761" cy="85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lnSpc>
                <a:spcPct val="120000"/>
              </a:lnSpc>
              <a:defRPr sz="2200">
                <a:solidFill>
                  <a:srgbClr val="FFFFFF"/>
                </a:solidFill>
              </a:defRPr>
            </a:lvl1pPr>
          </a:lstStyle>
          <a:p>
            <a:pPr/>
            <a:r>
              <a:t>النظام بيحلّل اتجاه أرقامك ويتوقّع تحصيلاتك ومصاريفك للشهور الجاية، فتخطّط قبل ما تحتاج.</a:t>
            </a:r>
          </a:p>
        </p:txBody>
      </p:sp>
      <p:sp>
        <p:nvSpPr>
          <p:cNvPr id="396" name="Shape 8"/>
          <p:cNvSpPr/>
          <p:nvPr/>
        </p:nvSpPr>
        <p:spPr>
          <a:xfrm>
            <a:off x="5495925" y="3977640"/>
            <a:ext cx="685800" cy="685801"/>
          </a:xfrm>
          <a:prstGeom prst="ellipse">
            <a:avLst/>
          </a:prstGeom>
          <a:solidFill>
            <a:srgbClr val="8DC63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7" name="Text 9"/>
          <p:cNvSpPr txBox="1"/>
          <p:nvPr/>
        </p:nvSpPr>
        <p:spPr>
          <a:xfrm>
            <a:off x="1312545" y="4076581"/>
            <a:ext cx="3909061" cy="556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3000">
                <a:solidFill>
                  <a:srgbClr val="8DC63F"/>
                </a:solidFill>
              </a:defRPr>
            </a:lvl1pPr>
          </a:lstStyle>
          <a:p>
            <a:pPr/>
            <a:r>
              <a:t>اكتشف اللي مش شايفه</a:t>
            </a:r>
          </a:p>
        </p:txBody>
      </p:sp>
      <p:sp>
        <p:nvSpPr>
          <p:cNvPr id="398" name="Text 10"/>
          <p:cNvSpPr txBox="1"/>
          <p:nvPr/>
        </p:nvSpPr>
        <p:spPr>
          <a:xfrm>
            <a:off x="1312545" y="5608724"/>
            <a:ext cx="4937761" cy="85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lnSpc>
                <a:spcPct val="120000"/>
              </a:lnSpc>
              <a:defRPr sz="2200">
                <a:solidFill>
                  <a:srgbClr val="FFFFFF"/>
                </a:solidFill>
              </a:defRPr>
            </a:lvl1pPr>
          </a:lstStyle>
          <a:p>
            <a:pPr/>
            <a:r>
              <a:t>الذكاء الاصطناعي بينبّهك للأنماط الشاذة والفرص المخفية في بياناتك — قبل ما تفوتك.</a:t>
            </a:r>
          </a:p>
        </p:txBody>
      </p:sp>
      <p:sp>
        <p:nvSpPr>
          <p:cNvPr id="399" name="Shape 11"/>
          <p:cNvSpPr/>
          <p:nvPr/>
        </p:nvSpPr>
        <p:spPr>
          <a:xfrm>
            <a:off x="9524" y="8161019"/>
            <a:ext cx="18287544" cy="1508760"/>
          </a:xfrm>
          <a:prstGeom prst="rect">
            <a:avLst/>
          </a:prstGeom>
          <a:solidFill>
            <a:srgbClr val="16304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0" name="Text 12"/>
          <p:cNvSpPr txBox="1"/>
          <p:nvPr/>
        </p:nvSpPr>
        <p:spPr>
          <a:xfrm>
            <a:off x="901065" y="8655370"/>
            <a:ext cx="16500349" cy="520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ctr" defTabSz="1371600" rtl="1"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وكل ما تطوّرت أدوات الذكاء الاصطناعي في Microsoft، شركتك بتستفيد منها تلقائياً — من غير ما تغيّر نظامك.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0"/>
          <p:cNvSpPr/>
          <p:nvPr/>
        </p:nvSpPr>
        <p:spPr>
          <a:xfrm>
            <a:off x="9524" y="-1"/>
            <a:ext cx="18287544" cy="7338062"/>
          </a:xfrm>
          <a:prstGeom prst="rect">
            <a:avLst/>
          </a:prstGeom>
          <a:solidFill>
            <a:srgbClr val="8DC63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3" name="Text 1"/>
          <p:cNvSpPr txBox="1"/>
          <p:nvPr/>
        </p:nvSpPr>
        <p:spPr>
          <a:xfrm>
            <a:off x="8719184" y="718725"/>
            <a:ext cx="8641082" cy="482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2400">
                <a:solidFill>
                  <a:srgbClr val="0E2240"/>
                </a:solidFill>
              </a:defRPr>
            </a:lvl1pPr>
          </a:lstStyle>
          <a:p>
            <a:pPr/>
            <a:r>
              <a:t>شهادة عميل</a:t>
            </a:r>
          </a:p>
        </p:txBody>
      </p:sp>
      <p:sp>
        <p:nvSpPr>
          <p:cNvPr id="404" name="Text 2"/>
          <p:cNvSpPr txBox="1"/>
          <p:nvPr/>
        </p:nvSpPr>
        <p:spPr>
          <a:xfrm>
            <a:off x="8719184" y="1406140"/>
            <a:ext cx="8641082" cy="753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4400">
                <a:solidFill>
                  <a:srgbClr val="0E2240"/>
                </a:solidFill>
              </a:defRPr>
            </a:lvl1pPr>
          </a:lstStyle>
          <a:p>
            <a:pPr/>
            <a:r>
              <a:t>قصة نجاح — جولدن لاند</a:t>
            </a:r>
          </a:p>
        </p:txBody>
      </p:sp>
      <p:pic>
        <p:nvPicPr>
          <p:cNvPr id="40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9645" y="960120"/>
            <a:ext cx="6172201" cy="1299793"/>
          </a:xfrm>
          <a:prstGeom prst="rect">
            <a:avLst/>
          </a:prstGeom>
          <a:ln w="12700">
            <a:miter lim="400000"/>
          </a:ln>
        </p:spPr>
      </p:pic>
      <p:sp>
        <p:nvSpPr>
          <p:cNvPr id="406" name="Text 3"/>
          <p:cNvSpPr txBox="1"/>
          <p:nvPr/>
        </p:nvSpPr>
        <p:spPr>
          <a:xfrm>
            <a:off x="15988664" y="2313586"/>
            <a:ext cx="1508761" cy="1407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>
              <a:defRPr b="1" sz="9000">
                <a:solidFill>
                  <a:srgbClr val="0E2240"/>
                </a:solidFill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407" name="Text 4"/>
          <p:cNvSpPr txBox="1"/>
          <p:nvPr/>
        </p:nvSpPr>
        <p:spPr>
          <a:xfrm>
            <a:off x="1449704" y="4026052"/>
            <a:ext cx="14401801" cy="2097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/>
          <a:p>
            <a:pPr algn="r" defTabSz="1371600" rtl="1">
              <a:lnSpc>
                <a:spcPct val="125000"/>
              </a:lnSpc>
              <a:defRPr sz="2800">
                <a:solidFill>
                  <a:srgbClr val="0E2240"/>
                </a:solidFill>
              </a:defRPr>
            </a:pPr>
            <a:r>
              <a:t>قبل إنوفاتِك كنا شغّالين على إكسيل، وكل قسم ماسك ملفاته لوحده — كنا بنعرف الأرقام الصح بعد أسبوع، لو عرفناها أصلاً.</a:t>
            </a:r>
          </a:p>
          <a:p>
            <a:pPr algn="r" defTabSz="1371600">
              <a:lnSpc>
                <a:spcPct val="125000"/>
              </a:lnSpc>
              <a:defRPr sz="28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algn="r" defTabSz="1371600" rtl="1">
              <a:lnSpc>
                <a:spcPct val="125000"/>
              </a:lnSpc>
              <a:defRPr sz="2800">
                <a:solidFill>
                  <a:srgbClr val="0E2240"/>
                </a:solidFill>
              </a:defRPr>
            </a:pPr>
            <a:r>
              <a:t>دلوقتي أول ما بفتح اللاب الصبح، الصورة كلها قدّامي: المبيعات، التحصيل، المصروفات، والأرباح — كله واضح في شاشة واحدة.</a:t>
            </a:r>
          </a:p>
        </p:txBody>
      </p:sp>
      <p:sp>
        <p:nvSpPr>
          <p:cNvPr id="408" name="Text 5"/>
          <p:cNvSpPr txBox="1"/>
          <p:nvPr/>
        </p:nvSpPr>
        <p:spPr>
          <a:xfrm>
            <a:off x="1175384" y="8362832"/>
            <a:ext cx="15910562" cy="556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ctr" defTabSz="1371600" rtl="1"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— [الاسم]، الرئيس التنفيذي، شركة جولدن لاند للتطوير العقاري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Text 0"/>
          <p:cNvSpPr txBox="1"/>
          <p:nvPr/>
        </p:nvSpPr>
        <p:spPr>
          <a:xfrm>
            <a:off x="901065" y="945914"/>
            <a:ext cx="16500349" cy="988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6000">
                <a:solidFill>
                  <a:srgbClr val="FFFFFF"/>
                </a:solidFill>
              </a:defRPr>
            </a:lvl1pPr>
          </a:lstStyle>
          <a:p>
            <a:pPr/>
            <a:r>
              <a:t>قيمنا</a:t>
            </a:r>
          </a:p>
        </p:txBody>
      </p:sp>
      <p:sp>
        <p:nvSpPr>
          <p:cNvPr id="411" name="Text 1"/>
          <p:cNvSpPr txBox="1"/>
          <p:nvPr/>
        </p:nvSpPr>
        <p:spPr>
          <a:xfrm>
            <a:off x="901065" y="2277431"/>
            <a:ext cx="16500349" cy="520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2600">
                <a:solidFill>
                  <a:srgbClr val="A9D18E"/>
                </a:solidFill>
              </a:defRPr>
            </a:lvl1pPr>
          </a:lstStyle>
          <a:p>
            <a:pPr/>
            <a:r>
              <a:t>أربع ركائز لا نقبل فيها المساومة:</a:t>
            </a:r>
          </a:p>
        </p:txBody>
      </p:sp>
      <p:sp>
        <p:nvSpPr>
          <p:cNvPr id="412" name="Text 2"/>
          <p:cNvSpPr txBox="1"/>
          <p:nvPr/>
        </p:nvSpPr>
        <p:spPr>
          <a:xfrm>
            <a:off x="9679304" y="3786998"/>
            <a:ext cx="7269481" cy="655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3600">
                <a:solidFill>
                  <a:srgbClr val="8DC63F"/>
                </a:solidFill>
              </a:defRPr>
            </a:lvl1pPr>
          </a:lstStyle>
          <a:p>
            <a:pPr/>
            <a:r>
              <a:t>الشراكة</a:t>
            </a:r>
          </a:p>
        </p:txBody>
      </p:sp>
      <p:sp>
        <p:nvSpPr>
          <p:cNvPr id="413" name="Text 3"/>
          <p:cNvSpPr txBox="1"/>
          <p:nvPr/>
        </p:nvSpPr>
        <p:spPr>
          <a:xfrm>
            <a:off x="9679304" y="5176425"/>
            <a:ext cx="7269481" cy="482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لا نبيع البرنامج ونمضي — نكمل الطريق معك خطوة بخطوة.</a:t>
            </a:r>
          </a:p>
        </p:txBody>
      </p:sp>
      <p:sp>
        <p:nvSpPr>
          <p:cNvPr id="414" name="Text 4"/>
          <p:cNvSpPr txBox="1"/>
          <p:nvPr/>
        </p:nvSpPr>
        <p:spPr>
          <a:xfrm>
            <a:off x="1312544" y="3786998"/>
            <a:ext cx="7269482" cy="655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3600">
                <a:solidFill>
                  <a:srgbClr val="8DC63F"/>
                </a:solidFill>
              </a:defRPr>
            </a:lvl1pPr>
          </a:lstStyle>
          <a:p>
            <a:pPr/>
            <a:r>
              <a:t>الدقة</a:t>
            </a:r>
          </a:p>
        </p:txBody>
      </p:sp>
      <p:sp>
        <p:nvSpPr>
          <p:cNvPr id="415" name="Text 5"/>
          <p:cNvSpPr txBox="1"/>
          <p:nvPr/>
        </p:nvSpPr>
        <p:spPr>
          <a:xfrm>
            <a:off x="1312544" y="5176425"/>
            <a:ext cx="7269482" cy="482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في الأرقام والحسابات لا وجود لكلمة «تقريباً».</a:t>
            </a:r>
          </a:p>
        </p:txBody>
      </p:sp>
      <p:sp>
        <p:nvSpPr>
          <p:cNvPr id="416" name="Text 6"/>
          <p:cNvSpPr txBox="1"/>
          <p:nvPr/>
        </p:nvSpPr>
        <p:spPr>
          <a:xfrm>
            <a:off x="9679304" y="6804518"/>
            <a:ext cx="7269481" cy="655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3600">
                <a:solidFill>
                  <a:srgbClr val="8DC63F"/>
                </a:solidFill>
              </a:defRPr>
            </a:lvl1pPr>
          </a:lstStyle>
          <a:p>
            <a:pPr/>
            <a:r>
              <a:t>الثقة</a:t>
            </a:r>
          </a:p>
        </p:txBody>
      </p:sp>
      <p:sp>
        <p:nvSpPr>
          <p:cNvPr id="417" name="Text 7"/>
          <p:cNvSpPr txBox="1"/>
          <p:nvPr/>
        </p:nvSpPr>
        <p:spPr>
          <a:xfrm>
            <a:off x="9679304" y="8193945"/>
            <a:ext cx="7269481" cy="482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نبني تكنولوجيا تجعل عملاءك يثقون بك أكثر.</a:t>
            </a:r>
          </a:p>
        </p:txBody>
      </p:sp>
      <p:sp>
        <p:nvSpPr>
          <p:cNvPr id="418" name="Text 8"/>
          <p:cNvSpPr txBox="1"/>
          <p:nvPr/>
        </p:nvSpPr>
        <p:spPr>
          <a:xfrm>
            <a:off x="1312544" y="6804518"/>
            <a:ext cx="7269482" cy="655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3600">
                <a:solidFill>
                  <a:srgbClr val="8DC63F"/>
                </a:solidFill>
              </a:defRPr>
            </a:lvl1pPr>
          </a:lstStyle>
          <a:p>
            <a:pPr/>
            <a:r>
              <a:t>الوضوح</a:t>
            </a:r>
          </a:p>
        </p:txBody>
      </p:sp>
      <p:sp>
        <p:nvSpPr>
          <p:cNvPr id="419" name="Text 9"/>
          <p:cNvSpPr txBox="1"/>
          <p:nvPr/>
        </p:nvSpPr>
        <p:spPr>
          <a:xfrm>
            <a:off x="1312544" y="8193945"/>
            <a:ext cx="7269482" cy="482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البيانات الكثيرة ليست معلومات — نحوّل الأرقام إلى قرارات.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Text 0"/>
          <p:cNvSpPr txBox="1"/>
          <p:nvPr/>
        </p:nvSpPr>
        <p:spPr>
          <a:xfrm>
            <a:off x="901065" y="945914"/>
            <a:ext cx="16500349" cy="988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6000">
                <a:solidFill>
                  <a:srgbClr val="FFFFFF"/>
                </a:solidFill>
              </a:defRPr>
            </a:lvl1pPr>
          </a:lstStyle>
          <a:p>
            <a:pPr/>
            <a:r>
              <a:t>ثقافتنا المؤسسية</a:t>
            </a:r>
          </a:p>
        </p:txBody>
      </p:sp>
      <p:sp>
        <p:nvSpPr>
          <p:cNvPr id="422" name="Text 1"/>
          <p:cNvSpPr txBox="1"/>
          <p:nvPr/>
        </p:nvSpPr>
        <p:spPr>
          <a:xfrm>
            <a:off x="901065" y="2277431"/>
            <a:ext cx="16500349" cy="520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2600">
                <a:solidFill>
                  <a:srgbClr val="A9D18E"/>
                </a:solidFill>
              </a:defRPr>
            </a:lvl1pPr>
          </a:lstStyle>
          <a:p>
            <a:pPr/>
            <a:r>
              <a:t>نعمل بروح واحدة نحو هدف واحد:</a:t>
            </a:r>
          </a:p>
        </p:txBody>
      </p:sp>
      <p:sp>
        <p:nvSpPr>
          <p:cNvPr id="423" name="Shape 2"/>
          <p:cNvSpPr/>
          <p:nvPr/>
        </p:nvSpPr>
        <p:spPr>
          <a:xfrm>
            <a:off x="16262985" y="3867911"/>
            <a:ext cx="685801" cy="685801"/>
          </a:xfrm>
          <a:prstGeom prst="ellipse">
            <a:avLst/>
          </a:prstGeom>
          <a:solidFill>
            <a:srgbClr val="8DC63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4" name="Text 3"/>
          <p:cNvSpPr txBox="1"/>
          <p:nvPr/>
        </p:nvSpPr>
        <p:spPr>
          <a:xfrm>
            <a:off x="9679305" y="3920786"/>
            <a:ext cx="6309361" cy="593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التعلم المستمر</a:t>
            </a:r>
          </a:p>
        </p:txBody>
      </p:sp>
      <p:sp>
        <p:nvSpPr>
          <p:cNvPr id="425" name="Text 4"/>
          <p:cNvSpPr txBox="1"/>
          <p:nvPr/>
        </p:nvSpPr>
        <p:spPr>
          <a:xfrm>
            <a:off x="9679305" y="5120130"/>
            <a:ext cx="6309361" cy="458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2200">
                <a:solidFill>
                  <a:srgbClr val="9AA7BD"/>
                </a:solidFill>
              </a:defRPr>
            </a:lvl1pPr>
          </a:lstStyle>
          <a:p>
            <a:pPr/>
            <a:r>
              <a:t>فرص مستمرة للتطوير والنمو المهني.</a:t>
            </a:r>
          </a:p>
        </p:txBody>
      </p:sp>
      <p:sp>
        <p:nvSpPr>
          <p:cNvPr id="426" name="Shape 5"/>
          <p:cNvSpPr/>
          <p:nvPr/>
        </p:nvSpPr>
        <p:spPr>
          <a:xfrm>
            <a:off x="7896225" y="3867911"/>
            <a:ext cx="685800" cy="685801"/>
          </a:xfrm>
          <a:prstGeom prst="ellipse">
            <a:avLst/>
          </a:prstGeom>
          <a:solidFill>
            <a:srgbClr val="8DC63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7" name="Text 6"/>
          <p:cNvSpPr txBox="1"/>
          <p:nvPr/>
        </p:nvSpPr>
        <p:spPr>
          <a:xfrm>
            <a:off x="1312545" y="3920786"/>
            <a:ext cx="6309361" cy="593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الإبداع</a:t>
            </a:r>
          </a:p>
        </p:txBody>
      </p:sp>
      <p:sp>
        <p:nvSpPr>
          <p:cNvPr id="428" name="Text 7"/>
          <p:cNvSpPr txBox="1"/>
          <p:nvPr/>
        </p:nvSpPr>
        <p:spPr>
          <a:xfrm>
            <a:off x="1312545" y="5120130"/>
            <a:ext cx="6309361" cy="458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2200">
                <a:solidFill>
                  <a:srgbClr val="9AA7BD"/>
                </a:solidFill>
              </a:defRPr>
            </a:lvl1pPr>
          </a:lstStyle>
          <a:p>
            <a:pPr/>
            <a:r>
              <a:t>تشجيع الأفكار والحلول الجديدة.</a:t>
            </a:r>
          </a:p>
        </p:txBody>
      </p:sp>
      <p:sp>
        <p:nvSpPr>
          <p:cNvPr id="429" name="Shape 8"/>
          <p:cNvSpPr/>
          <p:nvPr/>
        </p:nvSpPr>
        <p:spPr>
          <a:xfrm>
            <a:off x="16262985" y="6885432"/>
            <a:ext cx="685801" cy="685801"/>
          </a:xfrm>
          <a:prstGeom prst="ellipse">
            <a:avLst/>
          </a:prstGeom>
          <a:solidFill>
            <a:srgbClr val="8DC63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0" name="Text 9"/>
          <p:cNvSpPr txBox="1"/>
          <p:nvPr/>
        </p:nvSpPr>
        <p:spPr>
          <a:xfrm>
            <a:off x="9679305" y="6938307"/>
            <a:ext cx="6309361" cy="593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التعاون</a:t>
            </a:r>
          </a:p>
        </p:txBody>
      </p:sp>
      <p:sp>
        <p:nvSpPr>
          <p:cNvPr id="431" name="Text 10"/>
          <p:cNvSpPr txBox="1"/>
          <p:nvPr/>
        </p:nvSpPr>
        <p:spPr>
          <a:xfrm>
            <a:off x="9679305" y="8137650"/>
            <a:ext cx="6309361" cy="458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2200">
                <a:solidFill>
                  <a:srgbClr val="9AA7BD"/>
                </a:solidFill>
              </a:defRPr>
            </a:lvl1pPr>
          </a:lstStyle>
          <a:p>
            <a:pPr/>
            <a:r>
              <a:t>العمل الجماعي لدفع عجلة الابتكار.</a:t>
            </a:r>
          </a:p>
        </p:txBody>
      </p:sp>
      <p:sp>
        <p:nvSpPr>
          <p:cNvPr id="432" name="Shape 11"/>
          <p:cNvSpPr/>
          <p:nvPr/>
        </p:nvSpPr>
        <p:spPr>
          <a:xfrm>
            <a:off x="7896225" y="6885432"/>
            <a:ext cx="685800" cy="685801"/>
          </a:xfrm>
          <a:prstGeom prst="ellipse">
            <a:avLst/>
          </a:prstGeom>
          <a:solidFill>
            <a:srgbClr val="8DC63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3" name="Text 12"/>
          <p:cNvSpPr txBox="1"/>
          <p:nvPr/>
        </p:nvSpPr>
        <p:spPr>
          <a:xfrm>
            <a:off x="1312545" y="6938307"/>
            <a:ext cx="6309361" cy="593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الابتكار</a:t>
            </a:r>
          </a:p>
        </p:txBody>
      </p:sp>
      <p:sp>
        <p:nvSpPr>
          <p:cNvPr id="434" name="Text 13"/>
          <p:cNvSpPr txBox="1"/>
          <p:nvPr/>
        </p:nvSpPr>
        <p:spPr>
          <a:xfrm>
            <a:off x="1312545" y="8137650"/>
            <a:ext cx="6309361" cy="458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sz="2200">
                <a:solidFill>
                  <a:srgbClr val="9AA7BD"/>
                </a:solidFill>
              </a:defRPr>
            </a:lvl1pPr>
          </a:lstStyle>
          <a:p>
            <a:pPr/>
            <a:r>
              <a:t>بناء حلول ذكية مبرمجة للمستقبل.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Text 0"/>
          <p:cNvSpPr txBox="1"/>
          <p:nvPr/>
        </p:nvSpPr>
        <p:spPr>
          <a:xfrm>
            <a:off x="901065" y="945914"/>
            <a:ext cx="16500349" cy="988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defRPr b="1" sz="6000">
                <a:solidFill>
                  <a:srgbClr val="FFFFFF"/>
                </a:solidFill>
              </a:defRPr>
            </a:lvl1pPr>
          </a:lstStyle>
          <a:p>
            <a:pPr/>
            <a:r>
              <a:t>الخطوة الجاية</a:t>
            </a:r>
          </a:p>
        </p:txBody>
      </p:sp>
      <p:sp>
        <p:nvSpPr>
          <p:cNvPr id="437" name="Text 1"/>
          <p:cNvSpPr txBox="1"/>
          <p:nvPr/>
        </p:nvSpPr>
        <p:spPr>
          <a:xfrm>
            <a:off x="1312544" y="3964751"/>
            <a:ext cx="9738362" cy="1671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 rtl="1">
              <a:lnSpc>
                <a:spcPct val="130000"/>
              </a:lnSpc>
              <a:defRPr sz="3000">
                <a:solidFill>
                  <a:srgbClr val="FFFFFF"/>
                </a:solidFill>
              </a:defRPr>
            </a:lvl1pPr>
          </a:lstStyle>
          <a:p>
            <a:pPr/>
            <a:r>
              <a:t>تعالى شوف شركتك على الشاشة دي — قبل ما تقرّر أي حاجة. جلسة عرض مجانية، احنا مش بنقولك اشترِ… بنقولك اتفرّج الأول. هنركّب على الشاشة أرقام شركتك إنت بالذات.</a:t>
            </a:r>
          </a:p>
        </p:txBody>
      </p:sp>
      <p:sp>
        <p:nvSpPr>
          <p:cNvPr id="438" name="Shape 2"/>
          <p:cNvSpPr/>
          <p:nvPr/>
        </p:nvSpPr>
        <p:spPr>
          <a:xfrm>
            <a:off x="6318885" y="6995160"/>
            <a:ext cx="4800601" cy="1303021"/>
          </a:xfrm>
          <a:prstGeom prst="roundRect">
            <a:avLst>
              <a:gd name="adj" fmla="val 12632"/>
            </a:avLst>
          </a:prstGeom>
          <a:solidFill>
            <a:srgbClr val="8DC63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9" name="Text 3"/>
          <p:cNvSpPr txBox="1"/>
          <p:nvPr/>
        </p:nvSpPr>
        <p:spPr>
          <a:xfrm>
            <a:off x="6387465" y="7386641"/>
            <a:ext cx="4663441" cy="520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ctr" defTabSz="1371600" rtl="1">
              <a:defRPr b="1" sz="2600">
                <a:solidFill>
                  <a:srgbClr val="0E2240"/>
                </a:solidFill>
              </a:defRPr>
            </a:lvl1pPr>
          </a:lstStyle>
          <a:p>
            <a:pPr/>
            <a:r>
              <a:t>احجز جلستك المجانية الآن  ←</a:t>
            </a:r>
          </a:p>
        </p:txBody>
      </p:sp>
      <p:pic>
        <p:nvPicPr>
          <p:cNvPr id="44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42445" y="2743200"/>
            <a:ext cx="5349241" cy="57607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0"/>
          <p:cNvSpPr/>
          <p:nvPr/>
        </p:nvSpPr>
        <p:spPr>
          <a:xfrm>
            <a:off x="832485" y="754379"/>
            <a:ext cx="4389120" cy="1028701"/>
          </a:xfrm>
          <a:prstGeom prst="roundRect">
            <a:avLst>
              <a:gd name="adj" fmla="val 49333"/>
            </a:avLst>
          </a:prstGeom>
          <a:solidFill>
            <a:srgbClr val="8DC63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3" name="Text 1"/>
          <p:cNvSpPr txBox="1"/>
          <p:nvPr/>
        </p:nvSpPr>
        <p:spPr>
          <a:xfrm>
            <a:off x="901064" y="990482"/>
            <a:ext cx="4251962" cy="556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ctr" defTabSz="1371600">
              <a:defRPr b="1" sz="3000">
                <a:solidFill>
                  <a:srgbClr val="0E2240"/>
                </a:solidFill>
              </a:defRPr>
            </a:lvl1pPr>
          </a:lstStyle>
          <a:p>
            <a:pPr/>
            <a:r>
              <a:t>InnovaTech.</a:t>
            </a:r>
          </a:p>
        </p:txBody>
      </p:sp>
      <p:sp>
        <p:nvSpPr>
          <p:cNvPr id="444" name="Text 2"/>
          <p:cNvSpPr txBox="1"/>
          <p:nvPr/>
        </p:nvSpPr>
        <p:spPr>
          <a:xfrm>
            <a:off x="8993505" y="924465"/>
            <a:ext cx="8503920" cy="482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@innovatechsolutions.eg</a:t>
            </a:r>
          </a:p>
        </p:txBody>
      </p:sp>
      <p:sp>
        <p:nvSpPr>
          <p:cNvPr id="445" name="Text 3"/>
          <p:cNvSpPr txBox="1"/>
          <p:nvPr/>
        </p:nvSpPr>
        <p:spPr>
          <a:xfrm>
            <a:off x="5244679" y="949841"/>
            <a:ext cx="8503920" cy="482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r" defTabSz="1371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Innovatechsolutions</a:t>
            </a:r>
          </a:p>
        </p:txBody>
      </p:sp>
      <p:sp>
        <p:nvSpPr>
          <p:cNvPr id="446" name="Text 4"/>
          <p:cNvSpPr txBox="1"/>
          <p:nvPr/>
        </p:nvSpPr>
        <p:spPr>
          <a:xfrm>
            <a:off x="901065" y="3896053"/>
            <a:ext cx="16500349" cy="1260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ctr" defTabSz="1371600" rtl="1">
              <a:defRPr b="1" sz="7800">
                <a:solidFill>
                  <a:srgbClr val="FFFFFF"/>
                </a:solidFill>
              </a:defRPr>
            </a:lvl1pPr>
          </a:lstStyle>
          <a:p>
            <a:pPr/>
            <a:r>
              <a:t>تواصل معنا!</a:t>
            </a:r>
          </a:p>
        </p:txBody>
      </p:sp>
      <p:sp>
        <p:nvSpPr>
          <p:cNvPr id="447" name="Shape 5"/>
          <p:cNvSpPr/>
          <p:nvPr/>
        </p:nvSpPr>
        <p:spPr>
          <a:xfrm>
            <a:off x="14205585" y="6172200"/>
            <a:ext cx="1234441" cy="1234441"/>
          </a:xfrm>
          <a:prstGeom prst="ellipse">
            <a:avLst/>
          </a:prstGeom>
          <a:solidFill>
            <a:srgbClr val="8DC63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8" name="Text 6"/>
          <p:cNvSpPr txBox="1"/>
          <p:nvPr/>
        </p:nvSpPr>
        <p:spPr>
          <a:xfrm>
            <a:off x="12422504" y="7619928"/>
            <a:ext cx="4800601" cy="396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ctr" defTabSz="1371600" rtl="1">
              <a:defRPr sz="1800">
                <a:solidFill>
                  <a:srgbClr val="A9D18E"/>
                </a:solidFill>
              </a:defRPr>
            </a:lvl1pPr>
          </a:lstStyle>
          <a:p>
            <a:pPr/>
            <a:r>
              <a:t>البريد الإلكتروني</a:t>
            </a:r>
          </a:p>
        </p:txBody>
      </p:sp>
      <p:sp>
        <p:nvSpPr>
          <p:cNvPr id="449" name="Text 7"/>
          <p:cNvSpPr txBox="1"/>
          <p:nvPr/>
        </p:nvSpPr>
        <p:spPr>
          <a:xfrm>
            <a:off x="12422504" y="8193945"/>
            <a:ext cx="4800601" cy="482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ctr" defTabSz="1371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info@innovatech.eg</a:t>
            </a:r>
          </a:p>
        </p:txBody>
      </p:sp>
      <p:sp>
        <p:nvSpPr>
          <p:cNvPr id="450" name="Shape 8"/>
          <p:cNvSpPr/>
          <p:nvPr/>
        </p:nvSpPr>
        <p:spPr>
          <a:xfrm>
            <a:off x="8719185" y="6172200"/>
            <a:ext cx="1234441" cy="1234441"/>
          </a:xfrm>
          <a:prstGeom prst="ellipse">
            <a:avLst/>
          </a:prstGeom>
          <a:solidFill>
            <a:srgbClr val="8DC63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1" name="Text 9"/>
          <p:cNvSpPr txBox="1"/>
          <p:nvPr/>
        </p:nvSpPr>
        <p:spPr>
          <a:xfrm>
            <a:off x="6936105" y="7619928"/>
            <a:ext cx="4800601" cy="396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ctr" defTabSz="1371600" rtl="1">
              <a:defRPr sz="1800">
                <a:solidFill>
                  <a:srgbClr val="A9D18E"/>
                </a:solidFill>
              </a:defRPr>
            </a:lvl1pPr>
          </a:lstStyle>
          <a:p>
            <a:pPr/>
            <a:r>
              <a:t>الهاتف</a:t>
            </a:r>
          </a:p>
        </p:txBody>
      </p:sp>
      <p:sp>
        <p:nvSpPr>
          <p:cNvPr id="452" name="Text 10"/>
          <p:cNvSpPr txBox="1"/>
          <p:nvPr/>
        </p:nvSpPr>
        <p:spPr>
          <a:xfrm>
            <a:off x="6936105" y="8193945"/>
            <a:ext cx="4800601" cy="482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ctr" defTabSz="1371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+20 1023345568</a:t>
            </a:r>
          </a:p>
        </p:txBody>
      </p:sp>
      <p:sp>
        <p:nvSpPr>
          <p:cNvPr id="453" name="Shape 11"/>
          <p:cNvSpPr/>
          <p:nvPr/>
        </p:nvSpPr>
        <p:spPr>
          <a:xfrm>
            <a:off x="3232784" y="6172200"/>
            <a:ext cx="1234441" cy="1234441"/>
          </a:xfrm>
          <a:prstGeom prst="ellipse">
            <a:avLst/>
          </a:prstGeom>
          <a:solidFill>
            <a:srgbClr val="8DC63F"/>
          </a:solidFill>
          <a:ln w="12700">
            <a:miter lim="400000"/>
          </a:ln>
        </p:spPr>
        <p:txBody>
          <a:bodyPr lIns="68579" tIns="68579" rIns="68579" bIns="68579"/>
          <a:lstStyle/>
          <a:p>
            <a:pPr defTabSz="1371600"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4" name="Text 12"/>
          <p:cNvSpPr txBox="1"/>
          <p:nvPr/>
        </p:nvSpPr>
        <p:spPr>
          <a:xfrm>
            <a:off x="1449704" y="7619928"/>
            <a:ext cx="4800602" cy="396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ctr" defTabSz="1371600" rtl="1">
              <a:defRPr sz="1800">
                <a:solidFill>
                  <a:srgbClr val="A9D18E"/>
                </a:solidFill>
              </a:defRPr>
            </a:lvl1pPr>
          </a:lstStyle>
          <a:p>
            <a:pPr/>
            <a:r>
              <a:t>العنوان</a:t>
            </a:r>
          </a:p>
        </p:txBody>
      </p:sp>
      <p:sp>
        <p:nvSpPr>
          <p:cNvPr id="455" name="Text 13"/>
          <p:cNvSpPr txBox="1"/>
          <p:nvPr/>
        </p:nvSpPr>
        <p:spPr>
          <a:xfrm>
            <a:off x="1449704" y="8193945"/>
            <a:ext cx="4800602" cy="482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ctr" defTabSz="1371600" rtl="1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القاهرة، مصر</a:t>
            </a:r>
          </a:p>
        </p:txBody>
      </p:sp>
      <p:sp>
        <p:nvSpPr>
          <p:cNvPr id="456" name="Text 10"/>
          <p:cNvSpPr txBox="1"/>
          <p:nvPr/>
        </p:nvSpPr>
        <p:spPr>
          <a:xfrm>
            <a:off x="6936105" y="8734313"/>
            <a:ext cx="4800601" cy="482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8579" tIns="68579" rIns="68579" bIns="68579" anchor="ctr">
            <a:spAutoFit/>
          </a:bodyPr>
          <a:lstStyle>
            <a:lvl1pPr algn="ctr" defTabSz="1371600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+20 122 879 6162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